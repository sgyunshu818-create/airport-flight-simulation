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0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DC3463A-4B88-4321-8221-26D4B93F2F0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4187B8B-14DD-4D25-8439-64263568E8C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448300" cy="6858000"/>
          </a:xfrm>
          <a:prstGeom prst="rect">
            <a:avLst/>
          </a:prstGeom>
          <a:ln w="0"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9C9A7D5-4826-42AB-AA58-30FE2DC2DF57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38100" cy="3429000"/>
          </a:xfrm>
          <a:prstGeom prst="rect">
            <a:avLst/>
          </a:prstGeom>
          <a:solidFill>
            <a:srgbClr val="D69A27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4CA79B3-B686-46B0-A5A0-0AF641204690}"/>
              </a:ext>
            </a:extLst>
          </p:cNvPr>
          <p:cNvSpPr>
            <a:spLocks noGrp="1"/>
          </p:cNvSpPr>
          <p:nvPr/>
        </p:nvSpPr>
        <p:spPr>
          <a:xfrm>
            <a:off x="952500" y="895350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B9CFE0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B9CFE0"/>
                </a:solidFill>
                <a:latin typeface="Consolas"/>
                <a:ea typeface="Consolas"/>
                <a:cs typeface="Consolas"/>
              </a:rPr>
              <a:t>PROJECT SUMMARY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E03B1AE-F0C8-4CD4-B4CE-288E06FA08F2}"/>
              </a:ext>
            </a:extLst>
          </p:cNvPr>
          <p:cNvSpPr>
            <a:spLocks noGrp="1"/>
          </p:cNvSpPr>
          <p:nvPr/>
        </p:nvSpPr>
        <p:spPr>
          <a:xfrm>
            <a:off x="914400" y="1428750"/>
            <a:ext cx="45720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4050" b="1">
                <a:solidFill>
                  <a:srgbClr val="FFFFFF"/>
                </a:solidFill>
                <a:latin typeface="SimSun"/>
                <a:ea typeface="SimSun"/>
                <a:cs typeface="SimSun"/>
              </a:defRPr>
            </a:pPr>
            <a:r>
              <a:rPr sz="4050" b="1">
                <a:solidFill>
                  <a:srgbClr val="FFFFFF"/>
                </a:solidFill>
                <a:latin typeface="SimSun"/>
                <a:ea typeface="SimSun"/>
                <a:cs typeface="SimSun"/>
              </a:rPr>
              <a:t>机场航班运行</a:t>
            </a:r>
          </a:p>
          <a:p>
            <a:pPr algn="l">
              <a:defRPr sz="4050" b="1">
                <a:solidFill>
                  <a:srgbClr val="FFFFFF"/>
                </a:solidFill>
                <a:latin typeface="SimSun"/>
                <a:ea typeface="SimSun"/>
                <a:cs typeface="SimSun"/>
              </a:defRPr>
            </a:pPr>
            <a:r>
              <a:rPr sz="4050" b="1">
                <a:solidFill>
                  <a:srgbClr val="FFFFFF"/>
                </a:solidFill>
                <a:latin typeface="SimSun"/>
                <a:ea typeface="SimSun"/>
                <a:cs typeface="SimSun"/>
              </a:rPr>
              <a:t>仿真系统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683ECBC-6F0E-4DE9-8C9F-6B221037E52F}"/>
              </a:ext>
            </a:extLst>
          </p:cNvPr>
          <p:cNvSpPr>
            <a:spLocks noGrp="1"/>
          </p:cNvSpPr>
          <p:nvPr/>
        </p:nvSpPr>
        <p:spPr>
          <a:xfrm>
            <a:off x="952500" y="299085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EAC16B"/>
                </a:solidFill>
                <a:latin typeface="SimSun"/>
                <a:ea typeface="SimSun"/>
                <a:cs typeface="SimSun"/>
              </a:defRPr>
            </a:pPr>
            <a:r>
              <a:rPr sz="1800" b="1">
                <a:solidFill>
                  <a:srgbClr val="EAC16B"/>
                </a:solidFill>
                <a:latin typeface="SimSun"/>
                <a:ea typeface="SimSun"/>
                <a:cs typeface="SimSun"/>
              </a:rPr>
              <a:t>项目总结报告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C00AD3C-0B8A-4C02-A375-83557485EDE3}"/>
              </a:ext>
            </a:extLst>
          </p:cNvPr>
          <p:cNvSpPr>
            <a:spLocks noGrp="1"/>
          </p:cNvSpPr>
          <p:nvPr/>
        </p:nvSpPr>
        <p:spPr>
          <a:xfrm>
            <a:off x="952500" y="3486150"/>
            <a:ext cx="39243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D8E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75" b="0" dirty="0">
                <a:solidFill>
                  <a:srgbClr val="D8E6EF"/>
                </a:solidFill>
                <a:latin typeface="Microsoft YaHei"/>
                <a:ea typeface="Microsoft YaHei"/>
                <a:cs typeface="Microsoft YaHei"/>
              </a:rPr>
              <a:t>第</a:t>
            </a:r>
            <a:r>
              <a:rPr lang="en-US" altLang="zh-CN" sz="1575" b="0" dirty="0">
                <a:solidFill>
                  <a:srgbClr val="D8E6EF"/>
                </a:solidFill>
                <a:latin typeface="Microsoft YaHei"/>
                <a:ea typeface="Microsoft YaHei"/>
                <a:cs typeface="Microsoft YaHei"/>
              </a:rPr>
              <a:t>17</a:t>
            </a:r>
            <a:r>
              <a:rPr lang="zh-CN" altLang="en-US" sz="1575" b="0" dirty="0">
                <a:solidFill>
                  <a:srgbClr val="D8E6EF"/>
                </a:solidFill>
                <a:latin typeface="Microsoft YaHei"/>
                <a:ea typeface="Microsoft YaHei"/>
                <a:cs typeface="Microsoft YaHei"/>
              </a:rPr>
              <a:t>组：</a:t>
            </a:r>
            <a:r>
              <a:rPr lang="en-US" altLang="zh-CN" sz="1575" b="0" dirty="0">
                <a:solidFill>
                  <a:srgbClr val="D8E6EF"/>
                </a:solidFill>
                <a:latin typeface="Microsoft YaHei"/>
                <a:ea typeface="Microsoft YaHei"/>
                <a:cs typeface="Microsoft YaHei"/>
              </a:rPr>
              <a:t>2023303555 </a:t>
            </a:r>
            <a:r>
              <a:rPr lang="zh-CN" altLang="en-US" sz="1575" b="0" dirty="0">
                <a:solidFill>
                  <a:srgbClr val="D8E6EF"/>
                </a:solidFill>
                <a:latin typeface="Microsoft YaHei"/>
                <a:ea typeface="Microsoft YaHei"/>
                <a:cs typeface="Microsoft YaHei"/>
              </a:rPr>
              <a:t>王俊威 </a:t>
            </a:r>
            <a:endParaRPr lang="en-US" altLang="zh-CN" sz="1575" b="0" dirty="0">
              <a:solidFill>
                <a:srgbClr val="D8E6E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575" b="0">
                <a:solidFill>
                  <a:srgbClr val="D8E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575" dirty="0">
                <a:solidFill>
                  <a:srgbClr val="D8E6EF"/>
                </a:solidFill>
                <a:latin typeface="Microsoft YaHei"/>
                <a:ea typeface="Microsoft YaHei"/>
                <a:cs typeface="Microsoft YaHei"/>
              </a:rPr>
              <a:t>              2023302714 </a:t>
            </a:r>
            <a:r>
              <a:rPr lang="zh-CN" altLang="en-US" sz="1575" b="0" dirty="0">
                <a:solidFill>
                  <a:srgbClr val="D8E6EF"/>
                </a:solidFill>
                <a:latin typeface="Microsoft YaHei"/>
                <a:ea typeface="Microsoft YaHei"/>
                <a:cs typeface="Microsoft YaHei"/>
              </a:rPr>
              <a:t>吴东卓</a:t>
            </a:r>
            <a:endParaRPr sz="1575" b="0" dirty="0">
              <a:solidFill>
                <a:srgbClr val="D8E6EF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074275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5D6E32C6-FC2F-404F-AC2D-FCBE034AAB8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B044983-1F25-4718-A4CA-957E5BA4E573}"/>
              </a:ext>
            </a:extLst>
          </p:cNvPr>
          <p:cNvSpPr>
            <a:spLocks noGrp="1"/>
          </p:cNvSpPr>
          <p:nvPr/>
        </p:nvSpPr>
        <p:spPr>
          <a:xfrm>
            <a:off x="704850" y="62865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0C2742"/>
                </a:solidFill>
                <a:latin typeface="SimSun"/>
                <a:ea typeface="SimSun"/>
                <a:cs typeface="SimSun"/>
              </a:defRPr>
            </a:pPr>
            <a:r>
              <a:rPr sz="2550" b="1">
                <a:solidFill>
                  <a:srgbClr val="0C2742"/>
                </a:solidFill>
                <a:latin typeface="SimSun"/>
                <a:ea typeface="SimSun"/>
                <a:cs typeface="SimSun"/>
              </a:rPr>
              <a:t>项目定位：用仿真解释机场资源调度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DFB3F63-CB82-4329-BCE9-92DD93E2B13F}"/>
              </a:ext>
            </a:extLst>
          </p:cNvPr>
          <p:cNvSpPr>
            <a:spLocks noGrp="1"/>
          </p:cNvSpPr>
          <p:nvPr/>
        </p:nvSpPr>
        <p:spPr>
          <a:xfrm>
            <a:off x="685800" y="6210300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6B7D8C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B7D8C"/>
                </a:solidFill>
                <a:latin typeface="Consolas"/>
                <a:ea typeface="Consolas"/>
                <a:cs typeface="Consolas"/>
              </a:rPr>
              <a:t>AIRPORT FLIGHT SIMULATION / 02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B76562E-65D4-4322-B4F4-20AC429DA27A}"/>
              </a:ext>
            </a:extLst>
          </p:cNvPr>
          <p:cNvSpPr>
            <a:spLocks noGrp="1"/>
          </p:cNvSpPr>
          <p:nvPr/>
        </p:nvSpPr>
        <p:spPr>
          <a:xfrm>
            <a:off x="9677400" y="6315075"/>
            <a:ext cx="1790700" cy="9525"/>
          </a:xfrm>
          <a:prstGeom prst="rect">
            <a:avLst/>
          </a:prstGeom>
          <a:solidFill>
            <a:srgbClr val="9CB4C4"/>
          </a:solidFill>
          <a:ln w="0">
            <a:noFill/>
            <a:prstDash val="solid"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5844CF27-92F3-4F68-A7C0-57C3211ACEAB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4000500" cy="2362200"/>
          </a:xfrm>
          <a:prstGeom prst="roundRect">
            <a:avLst>
              <a:gd name="adj" fmla="val 4839"/>
            </a:avLst>
          </a:prstGeom>
          <a:solidFill>
            <a:srgbClr val="FFFDF7"/>
          </a:solidFill>
          <a:ln w="9525">
            <a:solidFill>
              <a:srgbClr val="E4DCCC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358A1E8-472F-4323-AACE-E9A544B02E78}"/>
              </a:ext>
            </a:extLst>
          </p:cNvPr>
          <p:cNvSpPr>
            <a:spLocks noGrp="1"/>
          </p:cNvSpPr>
          <p:nvPr/>
        </p:nvSpPr>
        <p:spPr>
          <a:xfrm>
            <a:off x="1066800" y="23812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0C2742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0C2742"/>
                </a:solidFill>
                <a:latin typeface="SimSun"/>
                <a:ea typeface="SimSun"/>
                <a:cs typeface="SimSun"/>
              </a:rPr>
              <a:t>解决的问题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BBDAC2DA-CCFD-4F36-ABD6-4700D1EC26A9}"/>
              </a:ext>
            </a:extLst>
          </p:cNvPr>
          <p:cNvSpPr>
            <a:spLocks noGrp="1"/>
          </p:cNvSpPr>
          <p:nvPr/>
        </p:nvSpPr>
        <p:spPr>
          <a:xfrm>
            <a:off x="1066800" y="2990850"/>
            <a:ext cx="85725" cy="85725"/>
          </a:xfrm>
          <a:prstGeom prst="ellipse">
            <a:avLst/>
          </a:prstGeom>
          <a:solidFill>
            <a:srgbClr val="2D6F9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68D82FD-6CAF-4C81-A4A5-836063A572CA}"/>
              </a:ext>
            </a:extLst>
          </p:cNvPr>
          <p:cNvSpPr>
            <a:spLocks noGrp="1"/>
          </p:cNvSpPr>
          <p:nvPr/>
        </p:nvSpPr>
        <p:spPr>
          <a:xfrm>
            <a:off x="1276350" y="291465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rPr>
              <a:t>航班计划在相近时间竞争跑道和停机位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DDABCDAE-4252-40F6-A039-2ABE72F45CB6}"/>
              </a:ext>
            </a:extLst>
          </p:cNvPr>
          <p:cNvSpPr>
            <a:spLocks noGrp="1"/>
          </p:cNvSpPr>
          <p:nvPr/>
        </p:nvSpPr>
        <p:spPr>
          <a:xfrm>
            <a:off x="1066800" y="3429000"/>
            <a:ext cx="85725" cy="85725"/>
          </a:xfrm>
          <a:prstGeom prst="ellipse">
            <a:avLst/>
          </a:prstGeom>
          <a:solidFill>
            <a:srgbClr val="D69A2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3D171EA-1303-49B8-B19A-B6EB7569F98E}"/>
              </a:ext>
            </a:extLst>
          </p:cNvPr>
          <p:cNvSpPr>
            <a:spLocks noGrp="1"/>
          </p:cNvSpPr>
          <p:nvPr/>
        </p:nvSpPr>
        <p:spPr>
          <a:xfrm>
            <a:off x="1276350" y="335280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rPr>
              <a:t>资源不足时产生等待、延误和事件记录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8ED41C63-3993-40BE-9D18-05E65FB09EFC}"/>
              </a:ext>
            </a:extLst>
          </p:cNvPr>
          <p:cNvSpPr>
            <a:spLocks noGrp="1"/>
          </p:cNvSpPr>
          <p:nvPr/>
        </p:nvSpPr>
        <p:spPr>
          <a:xfrm>
            <a:off x="1066800" y="3867150"/>
            <a:ext cx="85725" cy="85725"/>
          </a:xfrm>
          <a:prstGeom prst="ellipse">
            <a:avLst/>
          </a:prstGeom>
          <a:solidFill>
            <a:srgbClr val="3B8D7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F6F38BD-2B67-460F-B93B-79AC240CA25D}"/>
              </a:ext>
            </a:extLst>
          </p:cNvPr>
          <p:cNvSpPr>
            <a:spLocks noGrp="1"/>
          </p:cNvSpPr>
          <p:nvPr/>
        </p:nvSpPr>
        <p:spPr>
          <a:xfrm>
            <a:off x="1276350" y="379095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rPr>
              <a:t>仿真结束后汇总完成率、延误率和资源占用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230ED33-0F74-4CD4-ACC7-74A2B0DF98F8}"/>
              </a:ext>
            </a:extLst>
          </p:cNvPr>
          <p:cNvSpPr>
            <a:spLocks noGrp="1"/>
          </p:cNvSpPr>
          <p:nvPr/>
        </p:nvSpPr>
        <p:spPr>
          <a:xfrm>
            <a:off x="5029200" y="2286000"/>
            <a:ext cx="1428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900" b="1">
                <a:solidFill>
                  <a:srgbClr val="2D6F9F"/>
                </a:solidFill>
                <a:latin typeface="Consolas"/>
                <a:ea typeface="Consolas"/>
                <a:cs typeface="Consolas"/>
              </a:defRPr>
            </a:pPr>
            <a:r>
              <a:rPr sz="3900" b="1">
                <a:solidFill>
                  <a:srgbClr val="2D6F9F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BEB7FC1-3BC0-488F-BB0F-4F0E94A4D493}"/>
              </a:ext>
            </a:extLst>
          </p:cNvPr>
          <p:cNvSpPr>
            <a:spLocks noGrp="1"/>
          </p:cNvSpPr>
          <p:nvPr/>
        </p:nvSpPr>
        <p:spPr>
          <a:xfrm>
            <a:off x="5029200" y="293370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72033"/>
                </a:solidFill>
                <a:latin typeface="SimSun"/>
                <a:ea typeface="SimSun"/>
                <a:cs typeface="SimSun"/>
              </a:defRPr>
            </a:pPr>
            <a:r>
              <a:rPr sz="1650" b="1">
                <a:solidFill>
                  <a:srgbClr val="172033"/>
                </a:solidFill>
                <a:latin typeface="SimSun"/>
                <a:ea typeface="SimSun"/>
                <a:cs typeface="SimSun"/>
              </a:rPr>
              <a:t>示例航班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E29757F-C978-4700-8CF9-B9B5F217E025}"/>
              </a:ext>
            </a:extLst>
          </p:cNvPr>
          <p:cNvSpPr>
            <a:spLocks noGrp="1"/>
          </p:cNvSpPr>
          <p:nvPr/>
        </p:nvSpPr>
        <p:spPr>
          <a:xfrm>
            <a:off x="5029200" y="3314700"/>
            <a:ext cx="1809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rPr>
              <a:t>SQL 初始数据覆盖起飞与到达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C983D7C-09E0-42E9-AF81-B69045DBCBBE}"/>
              </a:ext>
            </a:extLst>
          </p:cNvPr>
          <p:cNvSpPr>
            <a:spLocks noGrp="1"/>
          </p:cNvSpPr>
          <p:nvPr/>
        </p:nvSpPr>
        <p:spPr>
          <a:xfrm>
            <a:off x="5029200" y="4019550"/>
            <a:ext cx="1200150" cy="19050"/>
          </a:xfrm>
          <a:prstGeom prst="rect">
            <a:avLst/>
          </a:prstGeom>
          <a:solidFill>
            <a:srgbClr val="2D6F9F"/>
          </a:solidFill>
          <a:ln w="0">
            <a:noFill/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D526A45-DB91-4F53-A63E-6E823C75D51C}"/>
              </a:ext>
            </a:extLst>
          </p:cNvPr>
          <p:cNvSpPr>
            <a:spLocks noGrp="1"/>
          </p:cNvSpPr>
          <p:nvPr/>
        </p:nvSpPr>
        <p:spPr>
          <a:xfrm>
            <a:off x="6915150" y="2286000"/>
            <a:ext cx="1428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900" b="1">
                <a:solidFill>
                  <a:srgbClr val="D69A27"/>
                </a:solidFill>
                <a:latin typeface="Consolas"/>
                <a:ea typeface="Consolas"/>
                <a:cs typeface="Consolas"/>
              </a:defRPr>
            </a:pPr>
            <a:r>
              <a:rPr sz="3900" b="1">
                <a:solidFill>
                  <a:srgbClr val="D69A2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F4C7A01-E93A-4ED8-881B-8C8C71F8A6FB}"/>
              </a:ext>
            </a:extLst>
          </p:cNvPr>
          <p:cNvSpPr>
            <a:spLocks noGrp="1"/>
          </p:cNvSpPr>
          <p:nvPr/>
        </p:nvSpPr>
        <p:spPr>
          <a:xfrm>
            <a:off x="6915150" y="293370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72033"/>
                </a:solidFill>
                <a:latin typeface="SimSun"/>
                <a:ea typeface="SimSun"/>
                <a:cs typeface="SimSun"/>
              </a:defRPr>
            </a:pPr>
            <a:r>
              <a:rPr sz="1650" b="1">
                <a:solidFill>
                  <a:srgbClr val="172033"/>
                </a:solidFill>
                <a:latin typeface="SimSun"/>
                <a:ea typeface="SimSun"/>
                <a:cs typeface="SimSun"/>
              </a:rPr>
              <a:t>跑道资源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1864B83-9627-4577-ACE6-AF502EB18C02}"/>
              </a:ext>
            </a:extLst>
          </p:cNvPr>
          <p:cNvSpPr>
            <a:spLocks noGrp="1"/>
          </p:cNvSpPr>
          <p:nvPr/>
        </p:nvSpPr>
        <p:spPr>
          <a:xfrm>
            <a:off x="6915150" y="3314700"/>
            <a:ext cx="1809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rPr>
              <a:t>R01 / R02 支持起降配置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F64C5C9-DB8A-4A70-B427-DE374B17CF55}"/>
              </a:ext>
            </a:extLst>
          </p:cNvPr>
          <p:cNvSpPr>
            <a:spLocks noGrp="1"/>
          </p:cNvSpPr>
          <p:nvPr/>
        </p:nvSpPr>
        <p:spPr>
          <a:xfrm>
            <a:off x="6915150" y="4019550"/>
            <a:ext cx="1200150" cy="19050"/>
          </a:xfrm>
          <a:prstGeom prst="rect">
            <a:avLst/>
          </a:prstGeom>
          <a:solidFill>
            <a:srgbClr val="D69A27"/>
          </a:solidFill>
          <a:ln w="0"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84E151B-CCB7-48E5-8AF5-3358509BE805}"/>
              </a:ext>
            </a:extLst>
          </p:cNvPr>
          <p:cNvSpPr>
            <a:spLocks noGrp="1"/>
          </p:cNvSpPr>
          <p:nvPr/>
        </p:nvSpPr>
        <p:spPr>
          <a:xfrm>
            <a:off x="8801100" y="2286000"/>
            <a:ext cx="1428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900" b="1">
                <a:solidFill>
                  <a:srgbClr val="3B8D72"/>
                </a:solidFill>
                <a:latin typeface="Consolas"/>
                <a:ea typeface="Consolas"/>
                <a:cs typeface="Consolas"/>
              </a:defRPr>
            </a:pPr>
            <a:r>
              <a:rPr sz="3900" b="1">
                <a:solidFill>
                  <a:srgbClr val="3B8D72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72C15C4-0707-45BF-8597-CC54723E2F56}"/>
              </a:ext>
            </a:extLst>
          </p:cNvPr>
          <p:cNvSpPr>
            <a:spLocks noGrp="1"/>
          </p:cNvSpPr>
          <p:nvPr/>
        </p:nvSpPr>
        <p:spPr>
          <a:xfrm>
            <a:off x="8801100" y="293370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72033"/>
                </a:solidFill>
                <a:latin typeface="SimSun"/>
                <a:ea typeface="SimSun"/>
                <a:cs typeface="SimSun"/>
              </a:defRPr>
            </a:pPr>
            <a:r>
              <a:rPr sz="1650" b="1">
                <a:solidFill>
                  <a:srgbClr val="172033"/>
                </a:solidFill>
                <a:latin typeface="SimSun"/>
                <a:ea typeface="SimSun"/>
                <a:cs typeface="SimSun"/>
              </a:rPr>
              <a:t>停机位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4F453A1-DB48-4548-A52A-3BA7193D3004}"/>
              </a:ext>
            </a:extLst>
          </p:cNvPr>
          <p:cNvSpPr>
            <a:spLocks noGrp="1"/>
          </p:cNvSpPr>
          <p:nvPr/>
        </p:nvSpPr>
        <p:spPr>
          <a:xfrm>
            <a:off x="8801100" y="3314700"/>
            <a:ext cx="1809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rPr>
              <a:t>小/中/大型机位适配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9C4C409-1F93-4C60-AE7A-442820D80FC2}"/>
              </a:ext>
            </a:extLst>
          </p:cNvPr>
          <p:cNvSpPr>
            <a:spLocks noGrp="1"/>
          </p:cNvSpPr>
          <p:nvPr/>
        </p:nvSpPr>
        <p:spPr>
          <a:xfrm>
            <a:off x="8801100" y="4019550"/>
            <a:ext cx="1200150" cy="19050"/>
          </a:xfrm>
          <a:prstGeom prst="rect">
            <a:avLst/>
          </a:prstGeom>
          <a:solidFill>
            <a:srgbClr val="3B8D72"/>
          </a:solidFill>
          <a:ln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2139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2964250-5FFE-41CE-86CF-90740414AB1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BBA748B-D523-4D1D-A28D-E24847EA48CC}"/>
              </a:ext>
            </a:extLst>
          </p:cNvPr>
          <p:cNvSpPr>
            <a:spLocks noGrp="1"/>
          </p:cNvSpPr>
          <p:nvPr/>
        </p:nvSpPr>
        <p:spPr>
          <a:xfrm>
            <a:off x="704850" y="62865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0C2742"/>
                </a:solidFill>
                <a:latin typeface="SimSun"/>
                <a:ea typeface="SimSun"/>
                <a:cs typeface="SimSun"/>
              </a:defRPr>
            </a:pPr>
            <a:r>
              <a:rPr sz="2550" b="1">
                <a:solidFill>
                  <a:srgbClr val="0C2742"/>
                </a:solidFill>
                <a:latin typeface="SimSun"/>
                <a:ea typeface="SimSun"/>
                <a:cs typeface="SimSun"/>
              </a:rPr>
              <a:t>需求范围：管理、仿真、统计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C3DB4D7-5D2E-4AEA-95FB-873CF58280DF}"/>
              </a:ext>
            </a:extLst>
          </p:cNvPr>
          <p:cNvSpPr>
            <a:spLocks noGrp="1"/>
          </p:cNvSpPr>
          <p:nvPr/>
        </p:nvSpPr>
        <p:spPr>
          <a:xfrm>
            <a:off x="685800" y="6210300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6B7D8C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B7D8C"/>
                </a:solidFill>
                <a:latin typeface="Consolas"/>
                <a:ea typeface="Consolas"/>
                <a:cs typeface="Consolas"/>
              </a:rPr>
              <a:t>AIRPORT FLIGHT SIMULATION / 03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3C01C33-5C69-4F6C-B2BF-071B9D89B55E}"/>
              </a:ext>
            </a:extLst>
          </p:cNvPr>
          <p:cNvSpPr>
            <a:spLocks noGrp="1"/>
          </p:cNvSpPr>
          <p:nvPr/>
        </p:nvSpPr>
        <p:spPr>
          <a:xfrm>
            <a:off x="9677400" y="6315075"/>
            <a:ext cx="1790700" cy="9525"/>
          </a:xfrm>
          <a:prstGeom prst="rect">
            <a:avLst/>
          </a:prstGeom>
          <a:solidFill>
            <a:srgbClr val="9CB4C4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0C55AAD-004C-4813-A58D-266CEC14D6E0}"/>
              </a:ext>
            </a:extLst>
          </p:cNvPr>
          <p:cNvSpPr>
            <a:spLocks noGrp="1"/>
          </p:cNvSpPr>
          <p:nvPr/>
        </p:nvSpPr>
        <p:spPr>
          <a:xfrm>
            <a:off x="914400" y="209550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2D6F9F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2D6F9F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07DD9A0-551C-4144-A885-9519B7CAF56B}"/>
              </a:ext>
            </a:extLst>
          </p:cNvPr>
          <p:cNvSpPr>
            <a:spLocks noGrp="1"/>
          </p:cNvSpPr>
          <p:nvPr/>
        </p:nvSpPr>
        <p:spPr>
          <a:xfrm>
            <a:off x="1657350" y="205740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72033"/>
                </a:solidFill>
                <a:latin typeface="SimSun"/>
                <a:ea typeface="SimSun"/>
                <a:cs typeface="SimSun"/>
              </a:defRPr>
            </a:pPr>
            <a:r>
              <a:rPr sz="1725" b="1">
                <a:solidFill>
                  <a:srgbClr val="172033"/>
                </a:solidFill>
                <a:latin typeface="SimSun"/>
                <a:ea typeface="SimSun"/>
                <a:cs typeface="SimSun"/>
              </a:rPr>
              <a:t>基础数据管理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25AA850-BB54-4624-A69E-D293FA7AA35B}"/>
              </a:ext>
            </a:extLst>
          </p:cNvPr>
          <p:cNvSpPr>
            <a:spLocks noGrp="1"/>
          </p:cNvSpPr>
          <p:nvPr/>
        </p:nvSpPr>
        <p:spPr>
          <a:xfrm>
            <a:off x="4324350" y="2076450"/>
            <a:ext cx="571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rPr>
              <a:t>航班、跑道、停机位的新增、编辑、查询、删除保护。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7D5BDBC-0E2A-4F33-AB25-8022AE8902FE}"/>
              </a:ext>
            </a:extLst>
          </p:cNvPr>
          <p:cNvSpPr>
            <a:spLocks noGrp="1"/>
          </p:cNvSpPr>
          <p:nvPr/>
        </p:nvSpPr>
        <p:spPr>
          <a:xfrm>
            <a:off x="876300" y="2533650"/>
            <a:ext cx="9010650" cy="9525"/>
          </a:xfrm>
          <a:prstGeom prst="rect">
            <a:avLst/>
          </a:prstGeom>
          <a:solidFill>
            <a:srgbClr val="D0C8BC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9B9923D-F9BC-4BF3-A955-714AD84F93D2}"/>
              </a:ext>
            </a:extLst>
          </p:cNvPr>
          <p:cNvSpPr>
            <a:spLocks noGrp="1"/>
          </p:cNvSpPr>
          <p:nvPr/>
        </p:nvSpPr>
        <p:spPr>
          <a:xfrm>
            <a:off x="914400" y="291465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3B8D72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3B8D72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8C2A115-86FA-4AE3-86E7-811B719E3117}"/>
              </a:ext>
            </a:extLst>
          </p:cNvPr>
          <p:cNvSpPr>
            <a:spLocks noGrp="1"/>
          </p:cNvSpPr>
          <p:nvPr/>
        </p:nvSpPr>
        <p:spPr>
          <a:xfrm>
            <a:off x="1657350" y="28765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72033"/>
                </a:solidFill>
                <a:latin typeface="SimSun"/>
                <a:ea typeface="SimSun"/>
                <a:cs typeface="SimSun"/>
              </a:defRPr>
            </a:pPr>
            <a:r>
              <a:rPr sz="1725" b="1">
                <a:solidFill>
                  <a:srgbClr val="172033"/>
                </a:solidFill>
                <a:latin typeface="SimSun"/>
                <a:ea typeface="SimSun"/>
                <a:cs typeface="SimSun"/>
              </a:rPr>
              <a:t>仿真任务控制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2D5C53F-C900-44E0-A336-6F0017F303FD}"/>
              </a:ext>
            </a:extLst>
          </p:cNvPr>
          <p:cNvSpPr>
            <a:spLocks noGrp="1"/>
          </p:cNvSpPr>
          <p:nvPr/>
        </p:nvSpPr>
        <p:spPr>
          <a:xfrm>
            <a:off x="4324350" y="2895600"/>
            <a:ext cx="571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rPr>
              <a:t>创建任务、单步推进、自动运行、重置状态。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48C92F0-D573-4942-AFF2-279C6E27E5D2}"/>
              </a:ext>
            </a:extLst>
          </p:cNvPr>
          <p:cNvSpPr>
            <a:spLocks noGrp="1"/>
          </p:cNvSpPr>
          <p:nvPr/>
        </p:nvSpPr>
        <p:spPr>
          <a:xfrm>
            <a:off x="876300" y="3352800"/>
            <a:ext cx="9010650" cy="9525"/>
          </a:xfrm>
          <a:prstGeom prst="rect">
            <a:avLst/>
          </a:prstGeom>
          <a:solidFill>
            <a:srgbClr val="D0C8BC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7DBD1A4-24E3-42B8-86C3-65AB72003FF3}"/>
              </a:ext>
            </a:extLst>
          </p:cNvPr>
          <p:cNvSpPr>
            <a:spLocks noGrp="1"/>
          </p:cNvSpPr>
          <p:nvPr/>
        </p:nvSpPr>
        <p:spPr>
          <a:xfrm>
            <a:off x="914400" y="373380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D69A27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D69A27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49E7BF6-6AA6-4298-94DF-B82EA4D161D0}"/>
              </a:ext>
            </a:extLst>
          </p:cNvPr>
          <p:cNvSpPr>
            <a:spLocks noGrp="1"/>
          </p:cNvSpPr>
          <p:nvPr/>
        </p:nvSpPr>
        <p:spPr>
          <a:xfrm>
            <a:off x="1657350" y="369570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72033"/>
                </a:solidFill>
                <a:latin typeface="SimSun"/>
                <a:ea typeface="SimSun"/>
                <a:cs typeface="SimSun"/>
              </a:defRPr>
            </a:pPr>
            <a:r>
              <a:rPr sz="1725" b="1">
                <a:solidFill>
                  <a:srgbClr val="172033"/>
                </a:solidFill>
                <a:latin typeface="SimSun"/>
                <a:ea typeface="SimSun"/>
                <a:cs typeface="SimSun"/>
              </a:rPr>
              <a:t>过程可追踪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4820FF8-0F0D-4C33-BFD3-19F970DC5682}"/>
              </a:ext>
            </a:extLst>
          </p:cNvPr>
          <p:cNvSpPr>
            <a:spLocks noGrp="1"/>
          </p:cNvSpPr>
          <p:nvPr/>
        </p:nvSpPr>
        <p:spPr>
          <a:xfrm>
            <a:off x="4324350" y="3714750"/>
            <a:ext cx="571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rPr>
              <a:t>进入队列、分配资源、起飞/降落、延误、释放资源均写入日志。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557C15D-7937-4A79-B005-20B88225B255}"/>
              </a:ext>
            </a:extLst>
          </p:cNvPr>
          <p:cNvSpPr>
            <a:spLocks noGrp="1"/>
          </p:cNvSpPr>
          <p:nvPr/>
        </p:nvSpPr>
        <p:spPr>
          <a:xfrm>
            <a:off x="876300" y="4171950"/>
            <a:ext cx="9010650" cy="9525"/>
          </a:xfrm>
          <a:prstGeom prst="rect">
            <a:avLst/>
          </a:prstGeom>
          <a:solidFill>
            <a:srgbClr val="D0C8BC"/>
          </a:solidFill>
          <a:ln w="0">
            <a:noFill/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7142E01-B6D2-4FDB-9A46-780B3FD7CD16}"/>
              </a:ext>
            </a:extLst>
          </p:cNvPr>
          <p:cNvSpPr>
            <a:spLocks noGrp="1"/>
          </p:cNvSpPr>
          <p:nvPr/>
        </p:nvSpPr>
        <p:spPr>
          <a:xfrm>
            <a:off x="914400" y="455295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9B5F37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9B5F37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409B3E3-9B9D-4E08-AE72-0975DDE23DB4}"/>
              </a:ext>
            </a:extLst>
          </p:cNvPr>
          <p:cNvSpPr>
            <a:spLocks noGrp="1"/>
          </p:cNvSpPr>
          <p:nvPr/>
        </p:nvSpPr>
        <p:spPr>
          <a:xfrm>
            <a:off x="1657350" y="45148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72033"/>
                </a:solidFill>
                <a:latin typeface="SimSun"/>
                <a:ea typeface="SimSun"/>
                <a:cs typeface="SimSun"/>
              </a:defRPr>
            </a:pPr>
            <a:r>
              <a:rPr sz="1725" b="1">
                <a:solidFill>
                  <a:srgbClr val="172033"/>
                </a:solidFill>
                <a:latin typeface="SimSun"/>
                <a:ea typeface="SimSun"/>
                <a:cs typeface="SimSun"/>
              </a:rPr>
              <a:t>结果可解释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4821F35-6885-4DD5-8CC8-0B05A12822D4}"/>
              </a:ext>
            </a:extLst>
          </p:cNvPr>
          <p:cNvSpPr>
            <a:spLocks noGrp="1"/>
          </p:cNvSpPr>
          <p:nvPr/>
        </p:nvSpPr>
        <p:spPr>
          <a:xfrm>
            <a:off x="4324350" y="4533900"/>
            <a:ext cx="571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rPr>
              <a:t>按航班完成、延误、等待和资源占用形成统计摘要。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8E290CE-9950-4D37-BA84-A31F7F8739A3}"/>
              </a:ext>
            </a:extLst>
          </p:cNvPr>
          <p:cNvSpPr>
            <a:spLocks noGrp="1"/>
          </p:cNvSpPr>
          <p:nvPr/>
        </p:nvSpPr>
        <p:spPr>
          <a:xfrm>
            <a:off x="876300" y="4991100"/>
            <a:ext cx="9010650" cy="9525"/>
          </a:xfrm>
          <a:prstGeom prst="rect">
            <a:avLst/>
          </a:prstGeom>
          <a:solidFill>
            <a:srgbClr val="D0C8BC"/>
          </a:solidFill>
          <a:ln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0896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17FDCE0-BE97-451A-9FB9-C3CE277204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C7A66B-9C79-4397-BBEA-83F85A8A0E3F}"/>
              </a:ext>
            </a:extLst>
          </p:cNvPr>
          <p:cNvSpPr>
            <a:spLocks noGrp="1"/>
          </p:cNvSpPr>
          <p:nvPr/>
        </p:nvSpPr>
        <p:spPr>
          <a:xfrm>
            <a:off x="704850" y="62865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0C2742"/>
                </a:solidFill>
                <a:latin typeface="SimSun"/>
                <a:ea typeface="SimSun"/>
                <a:cs typeface="SimSun"/>
              </a:defRPr>
            </a:pPr>
            <a:r>
              <a:rPr sz="2550" b="1">
                <a:solidFill>
                  <a:srgbClr val="0C2742"/>
                </a:solidFill>
                <a:latin typeface="SimSun"/>
                <a:ea typeface="SimSun"/>
                <a:cs typeface="SimSun"/>
              </a:rPr>
              <a:t>技术架构：课程项目里保持清晰的三层结构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5951822-322A-4C3A-97F4-1123E32D61C6}"/>
              </a:ext>
            </a:extLst>
          </p:cNvPr>
          <p:cNvSpPr>
            <a:spLocks noGrp="1"/>
          </p:cNvSpPr>
          <p:nvPr/>
        </p:nvSpPr>
        <p:spPr>
          <a:xfrm>
            <a:off x="685800" y="6210300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6B7D8C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B7D8C"/>
                </a:solidFill>
                <a:latin typeface="Consolas"/>
                <a:ea typeface="Consolas"/>
                <a:cs typeface="Consolas"/>
              </a:rPr>
              <a:t>AIRPORT FLIGHT SIMULATION / 04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36FD231-D850-41CA-8B27-2946C4C28A16}"/>
              </a:ext>
            </a:extLst>
          </p:cNvPr>
          <p:cNvSpPr>
            <a:spLocks noGrp="1"/>
          </p:cNvSpPr>
          <p:nvPr/>
        </p:nvSpPr>
        <p:spPr>
          <a:xfrm>
            <a:off x="9677400" y="6315075"/>
            <a:ext cx="1790700" cy="9525"/>
          </a:xfrm>
          <a:prstGeom prst="rect">
            <a:avLst/>
          </a:prstGeom>
          <a:solidFill>
            <a:srgbClr val="9CB4C4"/>
          </a:solidFill>
          <a:ln w="0">
            <a:noFill/>
            <a:prstDash val="solid"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52D5C898-9D65-475D-8754-78FE58B76869}"/>
              </a:ext>
            </a:extLst>
          </p:cNvPr>
          <p:cNvSpPr>
            <a:spLocks noGrp="1"/>
          </p:cNvSpPr>
          <p:nvPr/>
        </p:nvSpPr>
        <p:spPr>
          <a:xfrm>
            <a:off x="857250" y="2228850"/>
            <a:ext cx="2266950" cy="2190750"/>
          </a:xfrm>
          <a:prstGeom prst="roundRect">
            <a:avLst>
              <a:gd name="adj" fmla="val 5217"/>
            </a:avLst>
          </a:prstGeom>
          <a:solidFill>
            <a:srgbClr val="FFFDF7"/>
          </a:solidFill>
          <a:ln w="9525">
            <a:solidFill>
              <a:srgbClr val="E4DCCC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91570F4-149E-4B55-97F7-E3213FBC03F7}"/>
              </a:ext>
            </a:extLst>
          </p:cNvPr>
          <p:cNvSpPr>
            <a:spLocks noGrp="1"/>
          </p:cNvSpPr>
          <p:nvPr/>
        </p:nvSpPr>
        <p:spPr>
          <a:xfrm>
            <a:off x="1085850" y="2495550"/>
            <a:ext cx="180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2D6F9F"/>
                </a:solidFill>
                <a:latin typeface="Consolas"/>
                <a:ea typeface="Consolas"/>
                <a:cs typeface="Consolas"/>
              </a:defRPr>
            </a:pPr>
            <a:r>
              <a:rPr sz="1950" b="1">
                <a:solidFill>
                  <a:srgbClr val="2D6F9F"/>
                </a:solidFill>
                <a:latin typeface="Consolas"/>
                <a:ea typeface="Consolas"/>
                <a:cs typeface="Consolas"/>
              </a:rPr>
              <a:t>Controller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541853E-4DD0-43A5-9367-CC82CFF55E9A}"/>
              </a:ext>
            </a:extLst>
          </p:cNvPr>
          <p:cNvSpPr>
            <a:spLocks noGrp="1"/>
          </p:cNvSpPr>
          <p:nvPr/>
        </p:nvSpPr>
        <p:spPr>
          <a:xfrm>
            <a:off x="1085850" y="3105150"/>
            <a:ext cx="18097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rPr>
              <a:t>处理页面入口与表单提交</a:t>
            </a:r>
          </a:p>
          <a:p>
            <a:pPr algn="l">
              <a:defRPr sz="127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rPr>
              <a:t>Dashboard / Flight / Simulation / Operations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94D69A6-08A3-4AAA-A1CF-252CB0D28CC8}"/>
              </a:ext>
            </a:extLst>
          </p:cNvPr>
          <p:cNvSpPr>
            <a:spLocks noGrp="1"/>
          </p:cNvSpPr>
          <p:nvPr/>
        </p:nvSpPr>
        <p:spPr>
          <a:xfrm>
            <a:off x="3200400" y="3276600"/>
            <a:ext cx="381000" cy="19050"/>
          </a:xfrm>
          <a:prstGeom prst="rect">
            <a:avLst/>
          </a:prstGeom>
          <a:solidFill>
            <a:srgbClr val="8CA8BA"/>
          </a:solidFill>
          <a:ln w="0">
            <a:noFill/>
            <a:prstDash val="solid"/>
          </a:ln>
        </p:spPr>
      </p:sp>
      <p:sp>
        <p:nvSpPr>
          <p:cNvPr id="11" name="等腰三角形 10">
            <a:extLst>
              <a:ext uri="{FF2B5EF4-FFF2-40B4-BE49-F238E27FC236}">
                <a16:creationId xmlns:a16="http://schemas.microsoft.com/office/drawing/2014/main" id="{BD2A86FD-AC3C-4AC3-AA78-2FAE88D3B6C0}"/>
              </a:ext>
            </a:extLst>
          </p:cNvPr>
          <p:cNvSpPr>
            <a:spLocks noGrp="1"/>
          </p:cNvSpPr>
          <p:nvPr/>
        </p:nvSpPr>
        <p:spPr>
          <a:xfrm>
            <a:off x="3543300" y="3219450"/>
            <a:ext cx="133350" cy="133350"/>
          </a:xfrm>
          <a:prstGeom prst="triangle">
            <a:avLst/>
          </a:prstGeom>
          <a:solidFill>
            <a:srgbClr val="8CA8BA"/>
          </a:solidFill>
          <a:ln w="0">
            <a:noFill/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E62E044-F56D-4BE1-875F-6A3F659CF8A6}"/>
              </a:ext>
            </a:extLst>
          </p:cNvPr>
          <p:cNvSpPr>
            <a:spLocks noGrp="1"/>
          </p:cNvSpPr>
          <p:nvPr/>
        </p:nvSpPr>
        <p:spPr>
          <a:xfrm>
            <a:off x="3581400" y="2228850"/>
            <a:ext cx="2266950" cy="2190750"/>
          </a:xfrm>
          <a:prstGeom prst="roundRect">
            <a:avLst>
              <a:gd name="adj" fmla="val 5217"/>
            </a:avLst>
          </a:prstGeom>
          <a:solidFill>
            <a:srgbClr val="FFFDF7"/>
          </a:solidFill>
          <a:ln w="9525">
            <a:solidFill>
              <a:srgbClr val="E4DCCC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2C67551-C1E1-4EF3-B93D-FE27EE9EBC8A}"/>
              </a:ext>
            </a:extLst>
          </p:cNvPr>
          <p:cNvSpPr>
            <a:spLocks noGrp="1"/>
          </p:cNvSpPr>
          <p:nvPr/>
        </p:nvSpPr>
        <p:spPr>
          <a:xfrm>
            <a:off x="3810000" y="2495550"/>
            <a:ext cx="180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D69A27"/>
                </a:solidFill>
                <a:latin typeface="Consolas"/>
                <a:ea typeface="Consolas"/>
                <a:cs typeface="Consolas"/>
              </a:defRPr>
            </a:pPr>
            <a:r>
              <a:rPr sz="1950" b="1">
                <a:solidFill>
                  <a:srgbClr val="D69A27"/>
                </a:solidFill>
                <a:latin typeface="Consolas"/>
                <a:ea typeface="Consolas"/>
                <a:cs typeface="Consolas"/>
              </a:rPr>
              <a:t>Service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9700010-992F-4E45-8E64-14192BD83781}"/>
              </a:ext>
            </a:extLst>
          </p:cNvPr>
          <p:cNvSpPr>
            <a:spLocks noGrp="1"/>
          </p:cNvSpPr>
          <p:nvPr/>
        </p:nvSpPr>
        <p:spPr>
          <a:xfrm>
            <a:off x="3810000" y="3105150"/>
            <a:ext cx="18097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rPr>
              <a:t>承载业务规则与事务边界</a:t>
            </a:r>
          </a:p>
          <a:p>
            <a:pPr algn="l">
              <a:defRPr sz="127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rPr>
              <a:t>SimulationService / StatisticsService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A16C04D-615D-455E-8807-5A5E636AA328}"/>
              </a:ext>
            </a:extLst>
          </p:cNvPr>
          <p:cNvSpPr>
            <a:spLocks noGrp="1"/>
          </p:cNvSpPr>
          <p:nvPr/>
        </p:nvSpPr>
        <p:spPr>
          <a:xfrm>
            <a:off x="5924550" y="3276600"/>
            <a:ext cx="381000" cy="19050"/>
          </a:xfrm>
          <a:prstGeom prst="rect">
            <a:avLst/>
          </a:prstGeom>
          <a:solidFill>
            <a:srgbClr val="8CA8BA"/>
          </a:solidFill>
          <a:ln w="0">
            <a:noFill/>
            <a:prstDash val="solid"/>
          </a:ln>
        </p:spPr>
      </p:sp>
      <p:sp>
        <p:nvSpPr>
          <p:cNvPr id="16" name="等腰三角形 15">
            <a:extLst>
              <a:ext uri="{FF2B5EF4-FFF2-40B4-BE49-F238E27FC236}">
                <a16:creationId xmlns:a16="http://schemas.microsoft.com/office/drawing/2014/main" id="{F6133BA1-7A6D-41FF-9BBC-8910F3D16885}"/>
              </a:ext>
            </a:extLst>
          </p:cNvPr>
          <p:cNvSpPr>
            <a:spLocks noGrp="1"/>
          </p:cNvSpPr>
          <p:nvPr/>
        </p:nvSpPr>
        <p:spPr>
          <a:xfrm>
            <a:off x="6267450" y="3219450"/>
            <a:ext cx="133350" cy="133350"/>
          </a:xfrm>
          <a:prstGeom prst="triangle">
            <a:avLst/>
          </a:prstGeom>
          <a:solidFill>
            <a:srgbClr val="8CA8BA"/>
          </a:solidFill>
          <a:ln w="0">
            <a:noFill/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2557BFAA-84F7-477D-9E32-6EB05D4E80D1}"/>
              </a:ext>
            </a:extLst>
          </p:cNvPr>
          <p:cNvSpPr>
            <a:spLocks noGrp="1"/>
          </p:cNvSpPr>
          <p:nvPr/>
        </p:nvSpPr>
        <p:spPr>
          <a:xfrm>
            <a:off x="6305550" y="2228850"/>
            <a:ext cx="2266950" cy="2190750"/>
          </a:xfrm>
          <a:prstGeom prst="roundRect">
            <a:avLst>
              <a:gd name="adj" fmla="val 5217"/>
            </a:avLst>
          </a:prstGeom>
          <a:solidFill>
            <a:srgbClr val="FFFDF7"/>
          </a:solidFill>
          <a:ln w="9525">
            <a:solidFill>
              <a:srgbClr val="E4DCCC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53E6D0C-BC95-45BB-AC92-48E387ECA43C}"/>
              </a:ext>
            </a:extLst>
          </p:cNvPr>
          <p:cNvSpPr>
            <a:spLocks noGrp="1"/>
          </p:cNvSpPr>
          <p:nvPr/>
        </p:nvSpPr>
        <p:spPr>
          <a:xfrm>
            <a:off x="6534150" y="2495550"/>
            <a:ext cx="180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3B8D72"/>
                </a:solidFill>
                <a:latin typeface="Consolas"/>
                <a:ea typeface="Consolas"/>
                <a:cs typeface="Consolas"/>
              </a:defRPr>
            </a:pPr>
            <a:r>
              <a:rPr sz="1950" b="1">
                <a:solidFill>
                  <a:srgbClr val="3B8D72"/>
                </a:solidFill>
                <a:latin typeface="Consolas"/>
                <a:ea typeface="Consolas"/>
                <a:cs typeface="Consolas"/>
              </a:rPr>
              <a:t>Repository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DC58DA9-450E-40EB-BEB9-935C7FA39911}"/>
              </a:ext>
            </a:extLst>
          </p:cNvPr>
          <p:cNvSpPr>
            <a:spLocks noGrp="1"/>
          </p:cNvSpPr>
          <p:nvPr/>
        </p:nvSpPr>
        <p:spPr>
          <a:xfrm>
            <a:off x="6534150" y="3105150"/>
            <a:ext cx="18097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rPr>
              <a:t>基于 Spring Data JPA 访问数据</a:t>
            </a:r>
          </a:p>
          <a:p>
            <a:pPr algn="l">
              <a:defRPr sz="127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rPr>
              <a:t>5 个 Repository 对应核心表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76DDBB2-19A9-4654-BD33-C22B1E37CD80}"/>
              </a:ext>
            </a:extLst>
          </p:cNvPr>
          <p:cNvSpPr>
            <a:spLocks noGrp="1"/>
          </p:cNvSpPr>
          <p:nvPr/>
        </p:nvSpPr>
        <p:spPr>
          <a:xfrm>
            <a:off x="8648700" y="3276600"/>
            <a:ext cx="381000" cy="19050"/>
          </a:xfrm>
          <a:prstGeom prst="rect">
            <a:avLst/>
          </a:prstGeom>
          <a:solidFill>
            <a:srgbClr val="8CA8BA"/>
          </a:solidFill>
          <a:ln w="0">
            <a:noFill/>
            <a:prstDash val="solid"/>
          </a:ln>
        </p:spPr>
      </p:sp>
      <p:sp>
        <p:nvSpPr>
          <p:cNvPr id="21" name="等腰三角形 20">
            <a:extLst>
              <a:ext uri="{FF2B5EF4-FFF2-40B4-BE49-F238E27FC236}">
                <a16:creationId xmlns:a16="http://schemas.microsoft.com/office/drawing/2014/main" id="{887FD5D8-2C91-44C6-9414-C37BCC7D78FE}"/>
              </a:ext>
            </a:extLst>
          </p:cNvPr>
          <p:cNvSpPr>
            <a:spLocks noGrp="1"/>
          </p:cNvSpPr>
          <p:nvPr/>
        </p:nvSpPr>
        <p:spPr>
          <a:xfrm>
            <a:off x="8991600" y="3219450"/>
            <a:ext cx="133350" cy="133350"/>
          </a:xfrm>
          <a:prstGeom prst="triangle">
            <a:avLst/>
          </a:prstGeom>
          <a:solidFill>
            <a:srgbClr val="8CA8BA"/>
          </a:solidFill>
          <a:ln w="0">
            <a:noFill/>
            <a:prstDash val="solid"/>
          </a:ln>
        </p:spPr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A1850D1F-E404-4CDA-A033-DC36705FEC55}"/>
              </a:ext>
            </a:extLst>
          </p:cNvPr>
          <p:cNvSpPr>
            <a:spLocks noGrp="1"/>
          </p:cNvSpPr>
          <p:nvPr/>
        </p:nvSpPr>
        <p:spPr>
          <a:xfrm>
            <a:off x="9029700" y="2228850"/>
            <a:ext cx="2266950" cy="2190750"/>
          </a:xfrm>
          <a:prstGeom prst="roundRect">
            <a:avLst>
              <a:gd name="adj" fmla="val 5217"/>
            </a:avLst>
          </a:prstGeom>
          <a:solidFill>
            <a:srgbClr val="FFFDF7"/>
          </a:solidFill>
          <a:ln w="9525">
            <a:solidFill>
              <a:srgbClr val="E4DCCC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9D66006-3834-4D3F-8E4E-2D6E69EACF60}"/>
              </a:ext>
            </a:extLst>
          </p:cNvPr>
          <p:cNvSpPr>
            <a:spLocks noGrp="1"/>
          </p:cNvSpPr>
          <p:nvPr/>
        </p:nvSpPr>
        <p:spPr>
          <a:xfrm>
            <a:off x="9258300" y="2495550"/>
            <a:ext cx="180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9B5F37"/>
                </a:solidFill>
                <a:latin typeface="Consolas"/>
                <a:ea typeface="Consolas"/>
                <a:cs typeface="Consolas"/>
              </a:defRPr>
            </a:pPr>
            <a:r>
              <a:rPr sz="1950" b="1">
                <a:solidFill>
                  <a:srgbClr val="9B5F37"/>
                </a:solidFill>
                <a:latin typeface="Consolas"/>
                <a:ea typeface="Consolas"/>
                <a:cs typeface="Consolas"/>
              </a:rPr>
              <a:t>Database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5CB6B06-BFCF-4F66-AF7B-618E5B913E15}"/>
              </a:ext>
            </a:extLst>
          </p:cNvPr>
          <p:cNvSpPr>
            <a:spLocks noGrp="1"/>
          </p:cNvSpPr>
          <p:nvPr/>
        </p:nvSpPr>
        <p:spPr>
          <a:xfrm>
            <a:off x="9258300" y="3105150"/>
            <a:ext cx="18097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rPr>
              <a:t>MySQL 正式运行，H2 测试环境</a:t>
            </a:r>
          </a:p>
          <a:p>
            <a:pPr algn="l">
              <a:defRPr sz="127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rPr>
              <a:t>SQL 脚本提供演示数据</a:t>
            </a:r>
          </a:p>
        </p:txBody>
      </p:sp>
    </p:spTree>
    <p:extLst>
      <p:ext uri="{BB962C8B-B14F-4D97-AF65-F5344CB8AC3E}">
        <p14:creationId xmlns:p14="http://schemas.microsoft.com/office/powerpoint/2010/main" val="319953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6D3AB6A-6A66-495B-8C9D-C57BD120B0B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989F423-E1AD-4AAA-A699-018B4707A00B}"/>
              </a:ext>
            </a:extLst>
          </p:cNvPr>
          <p:cNvSpPr>
            <a:spLocks noGrp="1"/>
          </p:cNvSpPr>
          <p:nvPr/>
        </p:nvSpPr>
        <p:spPr>
          <a:xfrm>
            <a:off x="704850" y="62865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0C2742"/>
                </a:solidFill>
                <a:latin typeface="SimSun"/>
                <a:ea typeface="SimSun"/>
                <a:cs typeface="SimSun"/>
              </a:defRPr>
            </a:pPr>
            <a:r>
              <a:rPr sz="2550" b="1">
                <a:solidFill>
                  <a:srgbClr val="0C2742"/>
                </a:solidFill>
                <a:latin typeface="SimSun"/>
                <a:ea typeface="SimSun"/>
                <a:cs typeface="SimSun"/>
              </a:rPr>
              <a:t>数据模型：5 张表支撑仿真闭环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6A1ACBF-4607-47D2-ACCF-1E9AB74FA815}"/>
              </a:ext>
            </a:extLst>
          </p:cNvPr>
          <p:cNvSpPr>
            <a:spLocks noGrp="1"/>
          </p:cNvSpPr>
          <p:nvPr/>
        </p:nvSpPr>
        <p:spPr>
          <a:xfrm>
            <a:off x="685800" y="6210300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6B7D8C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B7D8C"/>
                </a:solidFill>
                <a:latin typeface="Consolas"/>
                <a:ea typeface="Consolas"/>
                <a:cs typeface="Consolas"/>
              </a:rPr>
              <a:t>AIRPORT FLIGHT SIMULATION / 05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F435497-F1EA-4702-869A-03523FFDDBB9}"/>
              </a:ext>
            </a:extLst>
          </p:cNvPr>
          <p:cNvSpPr>
            <a:spLocks noGrp="1"/>
          </p:cNvSpPr>
          <p:nvPr/>
        </p:nvSpPr>
        <p:spPr>
          <a:xfrm>
            <a:off x="9677400" y="6315075"/>
            <a:ext cx="1790700" cy="9525"/>
          </a:xfrm>
          <a:prstGeom prst="rect">
            <a:avLst/>
          </a:prstGeom>
          <a:solidFill>
            <a:srgbClr val="9CB4C4"/>
          </a:solidFill>
          <a:ln w="0">
            <a:noFill/>
            <a:prstDash val="solid"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9C311D1B-0ADA-4F58-AAF5-93BA12763C34}"/>
              </a:ext>
            </a:extLst>
          </p:cNvPr>
          <p:cNvSpPr>
            <a:spLocks noGrp="1"/>
          </p:cNvSpPr>
          <p:nvPr/>
        </p:nvSpPr>
        <p:spPr>
          <a:xfrm>
            <a:off x="5048250" y="2647950"/>
            <a:ext cx="1790700" cy="609600"/>
          </a:xfrm>
          <a:prstGeom prst="roundRect">
            <a:avLst>
              <a:gd name="adj" fmla="val 18750"/>
            </a:avLst>
          </a:prstGeom>
          <a:solidFill>
            <a:srgbClr val="FFFDF7"/>
          </a:solidFill>
          <a:ln w="9525">
            <a:solidFill>
              <a:srgbClr val="E4DCCC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01A95B7-A57F-4169-959F-374ADF7B6FEF}"/>
              </a:ext>
            </a:extLst>
          </p:cNvPr>
          <p:cNvSpPr>
            <a:spLocks noGrp="1"/>
          </p:cNvSpPr>
          <p:nvPr/>
        </p:nvSpPr>
        <p:spPr>
          <a:xfrm>
            <a:off x="5143500" y="2838450"/>
            <a:ext cx="1600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2D6F9F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2D6F9F"/>
                </a:solidFill>
                <a:latin typeface="Consolas"/>
                <a:ea typeface="Consolas"/>
                <a:cs typeface="Consolas"/>
              </a:rPr>
              <a:t>flight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E737874-16E7-4455-B1E6-472A94FA31CD}"/>
              </a:ext>
            </a:extLst>
          </p:cNvPr>
          <p:cNvSpPr>
            <a:spLocks noGrp="1"/>
          </p:cNvSpPr>
          <p:nvPr/>
        </p:nvSpPr>
        <p:spPr>
          <a:xfrm>
            <a:off x="4667250" y="3848100"/>
            <a:ext cx="1790700" cy="609600"/>
          </a:xfrm>
          <a:prstGeom prst="roundRect">
            <a:avLst>
              <a:gd name="adj" fmla="val 18750"/>
            </a:avLst>
          </a:prstGeom>
          <a:solidFill>
            <a:srgbClr val="FFFDF7"/>
          </a:solidFill>
          <a:ln w="9525">
            <a:solidFill>
              <a:srgbClr val="E4DCCC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9E56988-549D-43A4-8438-387C228F78C1}"/>
              </a:ext>
            </a:extLst>
          </p:cNvPr>
          <p:cNvSpPr>
            <a:spLocks noGrp="1"/>
          </p:cNvSpPr>
          <p:nvPr/>
        </p:nvSpPr>
        <p:spPr>
          <a:xfrm>
            <a:off x="4762500" y="4038600"/>
            <a:ext cx="1600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D69A27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D69A27"/>
                </a:solidFill>
                <a:latin typeface="Consolas"/>
                <a:ea typeface="Consolas"/>
                <a:cs typeface="Consolas"/>
              </a:rPr>
              <a:t>simulation_task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59FD4D8-AE3F-4324-9B44-CEEF86F439EA}"/>
              </a:ext>
            </a:extLst>
          </p:cNvPr>
          <p:cNvSpPr>
            <a:spLocks noGrp="1"/>
          </p:cNvSpPr>
          <p:nvPr/>
        </p:nvSpPr>
        <p:spPr>
          <a:xfrm>
            <a:off x="6705600" y="3848100"/>
            <a:ext cx="1790700" cy="609600"/>
          </a:xfrm>
          <a:prstGeom prst="roundRect">
            <a:avLst>
              <a:gd name="adj" fmla="val 18750"/>
            </a:avLst>
          </a:prstGeom>
          <a:solidFill>
            <a:srgbClr val="FFFDF7"/>
          </a:solidFill>
          <a:ln w="9525">
            <a:solidFill>
              <a:srgbClr val="E4DCCC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CC1C499-8C97-45EB-BDDC-DDE25E18A189}"/>
              </a:ext>
            </a:extLst>
          </p:cNvPr>
          <p:cNvSpPr>
            <a:spLocks noGrp="1"/>
          </p:cNvSpPr>
          <p:nvPr/>
        </p:nvSpPr>
        <p:spPr>
          <a:xfrm>
            <a:off x="6800850" y="4038600"/>
            <a:ext cx="1600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3B8D72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3B8D72"/>
                </a:solidFill>
                <a:latin typeface="Consolas"/>
                <a:ea typeface="Consolas"/>
                <a:cs typeface="Consolas"/>
              </a:rPr>
              <a:t>record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0B825191-0A54-4637-80CD-9C557B5B9CC8}"/>
              </a:ext>
            </a:extLst>
          </p:cNvPr>
          <p:cNvSpPr>
            <a:spLocks noGrp="1"/>
          </p:cNvSpPr>
          <p:nvPr/>
        </p:nvSpPr>
        <p:spPr>
          <a:xfrm>
            <a:off x="2400300" y="3848100"/>
            <a:ext cx="1790700" cy="609600"/>
          </a:xfrm>
          <a:prstGeom prst="roundRect">
            <a:avLst>
              <a:gd name="adj" fmla="val 18750"/>
            </a:avLst>
          </a:prstGeom>
          <a:solidFill>
            <a:srgbClr val="FFFDF7"/>
          </a:solidFill>
          <a:ln w="9525">
            <a:solidFill>
              <a:srgbClr val="E4DCCC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1751613-D1EF-49B2-8869-C031658278F6}"/>
              </a:ext>
            </a:extLst>
          </p:cNvPr>
          <p:cNvSpPr>
            <a:spLocks noGrp="1"/>
          </p:cNvSpPr>
          <p:nvPr/>
        </p:nvSpPr>
        <p:spPr>
          <a:xfrm>
            <a:off x="2495550" y="4038600"/>
            <a:ext cx="1600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9B5F37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9B5F37"/>
                </a:solidFill>
                <a:latin typeface="Consolas"/>
                <a:ea typeface="Consolas"/>
                <a:cs typeface="Consolas"/>
              </a:rPr>
              <a:t>runway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1B09347C-A6E4-4A66-A78E-B3050C880553}"/>
              </a:ext>
            </a:extLst>
          </p:cNvPr>
          <p:cNvSpPr>
            <a:spLocks noGrp="1"/>
          </p:cNvSpPr>
          <p:nvPr/>
        </p:nvSpPr>
        <p:spPr>
          <a:xfrm>
            <a:off x="9010650" y="3848100"/>
            <a:ext cx="1790700" cy="609600"/>
          </a:xfrm>
          <a:prstGeom prst="roundRect">
            <a:avLst>
              <a:gd name="adj" fmla="val 18750"/>
            </a:avLst>
          </a:prstGeom>
          <a:solidFill>
            <a:srgbClr val="FFFDF7"/>
          </a:solidFill>
          <a:ln w="9525">
            <a:solidFill>
              <a:srgbClr val="E4DCCC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67E3A0A-4150-465F-8D80-48A645E489A3}"/>
              </a:ext>
            </a:extLst>
          </p:cNvPr>
          <p:cNvSpPr>
            <a:spLocks noGrp="1"/>
          </p:cNvSpPr>
          <p:nvPr/>
        </p:nvSpPr>
        <p:spPr>
          <a:xfrm>
            <a:off x="9105900" y="4038600"/>
            <a:ext cx="1600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9B5F37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9B5F37"/>
                </a:solidFill>
                <a:latin typeface="Consolas"/>
                <a:ea typeface="Consolas"/>
                <a:cs typeface="Consolas"/>
              </a:rPr>
              <a:t>gate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40BEF5F-8E59-4D68-A713-4E686FCD27C2}"/>
              </a:ext>
            </a:extLst>
          </p:cNvPr>
          <p:cNvSpPr>
            <a:spLocks noGrp="1"/>
          </p:cNvSpPr>
          <p:nvPr/>
        </p:nvSpPr>
        <p:spPr>
          <a:xfrm>
            <a:off x="5838825" y="3257550"/>
            <a:ext cx="9525" cy="590550"/>
          </a:xfrm>
          <a:prstGeom prst="rect">
            <a:avLst/>
          </a:prstGeom>
          <a:solidFill>
            <a:srgbClr val="9CB4C4"/>
          </a:solidFill>
          <a:ln w="0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A31745E-B7D7-46C7-B008-36B108DBC1D9}"/>
              </a:ext>
            </a:extLst>
          </p:cNvPr>
          <p:cNvSpPr>
            <a:spLocks noGrp="1"/>
          </p:cNvSpPr>
          <p:nvPr/>
        </p:nvSpPr>
        <p:spPr>
          <a:xfrm>
            <a:off x="6248400" y="4152900"/>
            <a:ext cx="457200" cy="9525"/>
          </a:xfrm>
          <a:prstGeom prst="rect">
            <a:avLst/>
          </a:prstGeom>
          <a:solidFill>
            <a:srgbClr val="9CB4C4"/>
          </a:solidFill>
          <a:ln w="0">
            <a:noFill/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346A345-85E8-4E85-B1B2-DF806FD67987}"/>
              </a:ext>
            </a:extLst>
          </p:cNvPr>
          <p:cNvSpPr>
            <a:spLocks noGrp="1"/>
          </p:cNvSpPr>
          <p:nvPr/>
        </p:nvSpPr>
        <p:spPr>
          <a:xfrm>
            <a:off x="3981450" y="4152900"/>
            <a:ext cx="1066800" cy="9525"/>
          </a:xfrm>
          <a:prstGeom prst="rect">
            <a:avLst/>
          </a:prstGeom>
          <a:solidFill>
            <a:srgbClr val="9CB4C4"/>
          </a:solidFill>
          <a:ln w="0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266EEC3-A5F1-4C81-A25A-3A407E7E1D5C}"/>
              </a:ext>
            </a:extLst>
          </p:cNvPr>
          <p:cNvSpPr>
            <a:spLocks noGrp="1"/>
          </p:cNvSpPr>
          <p:nvPr/>
        </p:nvSpPr>
        <p:spPr>
          <a:xfrm>
            <a:off x="8286750" y="4152900"/>
            <a:ext cx="723900" cy="9525"/>
          </a:xfrm>
          <a:prstGeom prst="rect">
            <a:avLst/>
          </a:prstGeom>
          <a:solidFill>
            <a:srgbClr val="9CB4C4"/>
          </a:solidFill>
          <a:ln w="0"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E869FED-84E7-401A-8A25-39085E52184C}"/>
              </a:ext>
            </a:extLst>
          </p:cNvPr>
          <p:cNvSpPr>
            <a:spLocks noGrp="1"/>
          </p:cNvSpPr>
          <p:nvPr/>
        </p:nvSpPr>
        <p:spPr>
          <a:xfrm>
            <a:off x="914400" y="222885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0C2742"/>
                </a:solidFill>
                <a:latin typeface="SimSun"/>
                <a:ea typeface="SimSun"/>
                <a:cs typeface="SimSun"/>
              </a:defRPr>
            </a:pPr>
            <a:r>
              <a:rPr sz="1800" b="1">
                <a:solidFill>
                  <a:srgbClr val="0C2742"/>
                </a:solidFill>
                <a:latin typeface="SimSun"/>
                <a:ea typeface="SimSun"/>
                <a:cs typeface="SimSun"/>
              </a:rPr>
              <a:t>关键字段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7D36A9D-F08E-4481-98DC-1F0C2C37940E}"/>
              </a:ext>
            </a:extLst>
          </p:cNvPr>
          <p:cNvSpPr>
            <a:spLocks noGrp="1"/>
          </p:cNvSpPr>
          <p:nvPr/>
        </p:nvSpPr>
        <p:spPr>
          <a:xfrm>
            <a:off x="914400" y="2705100"/>
            <a:ext cx="3429000" cy="1485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rPr>
              <a:t>flight：计划/实际起降时间、航班类型、机型、状态、延误分钟数</a:t>
            </a:r>
          </a:p>
          <a:p>
            <a:pPr algn="l">
              <a:defRPr sz="1350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rPr>
              <a:t>runway / gate：状态、当前占用航班、占用起止时间</a:t>
            </a:r>
          </a:p>
          <a:p>
            <a:pPr algn="l">
              <a:defRPr sz="1350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rPr>
              <a:t>simulation_record：任务、航班、事件时间、事件类型、说明</a:t>
            </a:r>
          </a:p>
        </p:txBody>
      </p:sp>
    </p:spTree>
    <p:extLst>
      <p:ext uri="{BB962C8B-B14F-4D97-AF65-F5344CB8AC3E}">
        <p14:creationId xmlns:p14="http://schemas.microsoft.com/office/powerpoint/2010/main" val="243308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549B1601-F382-4F42-AFD6-E947238E298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8AC01C1-5202-4140-9ACB-B361D9E12C05}"/>
              </a:ext>
            </a:extLst>
          </p:cNvPr>
          <p:cNvSpPr>
            <a:spLocks noGrp="1"/>
          </p:cNvSpPr>
          <p:nvPr/>
        </p:nvSpPr>
        <p:spPr>
          <a:xfrm>
            <a:off x="704850" y="62865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0C2742"/>
                </a:solidFill>
                <a:latin typeface="SimSun"/>
                <a:ea typeface="SimSun"/>
                <a:cs typeface="SimSun"/>
              </a:defRPr>
            </a:pPr>
            <a:r>
              <a:rPr sz="2550" b="1">
                <a:solidFill>
                  <a:srgbClr val="0C2742"/>
                </a:solidFill>
                <a:latin typeface="SimSun"/>
                <a:ea typeface="SimSun"/>
                <a:cs typeface="SimSun"/>
              </a:rPr>
              <a:t>仿真核心：按时间步推进资源分配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C4981C3-91A8-4171-89D9-655E506170CF}"/>
              </a:ext>
            </a:extLst>
          </p:cNvPr>
          <p:cNvSpPr>
            <a:spLocks noGrp="1"/>
          </p:cNvSpPr>
          <p:nvPr/>
        </p:nvSpPr>
        <p:spPr>
          <a:xfrm>
            <a:off x="685800" y="6210300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6B7D8C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B7D8C"/>
                </a:solidFill>
                <a:latin typeface="Consolas"/>
                <a:ea typeface="Consolas"/>
                <a:cs typeface="Consolas"/>
              </a:rPr>
              <a:t>AIRPORT FLIGHT SIMULATION / 06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ABD14E5-A457-4F4A-A9D0-C18C7A958EC7}"/>
              </a:ext>
            </a:extLst>
          </p:cNvPr>
          <p:cNvSpPr>
            <a:spLocks noGrp="1"/>
          </p:cNvSpPr>
          <p:nvPr/>
        </p:nvSpPr>
        <p:spPr>
          <a:xfrm>
            <a:off x="9677400" y="6315075"/>
            <a:ext cx="1790700" cy="9525"/>
          </a:xfrm>
          <a:prstGeom prst="rect">
            <a:avLst/>
          </a:prstGeom>
          <a:solidFill>
            <a:srgbClr val="9CB4C4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C2FCDBD-CA9A-400D-B600-9F4D2A6A925D}"/>
              </a:ext>
            </a:extLst>
          </p:cNvPr>
          <p:cNvSpPr>
            <a:spLocks noGrp="1"/>
          </p:cNvSpPr>
          <p:nvPr/>
        </p:nvSpPr>
        <p:spPr>
          <a:xfrm>
            <a:off x="933450" y="19812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2D6F9F"/>
                </a:solidFill>
                <a:latin typeface="Consolas"/>
                <a:ea typeface="Consolas"/>
                <a:cs typeface="Consolas"/>
              </a:defRPr>
            </a:pPr>
            <a:r>
              <a:rPr sz="1725" b="1">
                <a:solidFill>
                  <a:srgbClr val="2D6F9F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2DACCC-DD94-4358-9D4A-857546633787}"/>
              </a:ext>
            </a:extLst>
          </p:cNvPr>
          <p:cNvSpPr>
            <a:spLocks noGrp="1"/>
          </p:cNvSpPr>
          <p:nvPr/>
        </p:nvSpPr>
        <p:spPr>
          <a:xfrm>
            <a:off x="1638300" y="19621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72033"/>
                </a:solidFill>
                <a:latin typeface="SimSun"/>
                <a:ea typeface="SimSun"/>
                <a:cs typeface="SimSun"/>
              </a:defRPr>
            </a:pPr>
            <a:r>
              <a:rPr sz="1650" b="1">
                <a:solidFill>
                  <a:srgbClr val="172033"/>
                </a:solidFill>
                <a:latin typeface="SimSun"/>
                <a:ea typeface="SimSun"/>
                <a:cs typeface="SimSun"/>
              </a:rPr>
              <a:t>释放到期资源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9BA273D-1FBD-477F-8C06-B10736F1F4EA}"/>
              </a:ext>
            </a:extLst>
          </p:cNvPr>
          <p:cNvSpPr>
            <a:spLocks noGrp="1"/>
          </p:cNvSpPr>
          <p:nvPr/>
        </p:nvSpPr>
        <p:spPr>
          <a:xfrm>
            <a:off x="4000500" y="1981200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rPr>
              <a:t>runway / gate 占用结束后恢复 IDLE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CFBB211-A4E5-4192-89C5-35EEA16D8383}"/>
              </a:ext>
            </a:extLst>
          </p:cNvPr>
          <p:cNvSpPr>
            <a:spLocks noGrp="1"/>
          </p:cNvSpPr>
          <p:nvPr/>
        </p:nvSpPr>
        <p:spPr>
          <a:xfrm>
            <a:off x="1219200" y="2314575"/>
            <a:ext cx="9525" cy="285750"/>
          </a:xfrm>
          <a:prstGeom prst="rect">
            <a:avLst/>
          </a:prstGeom>
          <a:solidFill>
            <a:srgbClr val="B7C5CE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E7D0449-5B9E-48EB-83DB-B944301B1C16}"/>
              </a:ext>
            </a:extLst>
          </p:cNvPr>
          <p:cNvSpPr>
            <a:spLocks noGrp="1"/>
          </p:cNvSpPr>
          <p:nvPr/>
        </p:nvSpPr>
        <p:spPr>
          <a:xfrm>
            <a:off x="933450" y="26670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3B8D72"/>
                </a:solidFill>
                <a:latin typeface="Consolas"/>
                <a:ea typeface="Consolas"/>
                <a:cs typeface="Consolas"/>
              </a:defRPr>
            </a:pPr>
            <a:r>
              <a:rPr sz="1725" b="1">
                <a:solidFill>
                  <a:srgbClr val="3B8D72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1CF9417-3BEF-4611-93E9-5CDEB5A295A3}"/>
              </a:ext>
            </a:extLst>
          </p:cNvPr>
          <p:cNvSpPr>
            <a:spLocks noGrp="1"/>
          </p:cNvSpPr>
          <p:nvPr/>
        </p:nvSpPr>
        <p:spPr>
          <a:xfrm>
            <a:off x="1638300" y="26479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72033"/>
                </a:solidFill>
                <a:latin typeface="SimSun"/>
                <a:ea typeface="SimSun"/>
                <a:cs typeface="SimSun"/>
              </a:defRPr>
            </a:pPr>
            <a:r>
              <a:rPr sz="1650" b="1">
                <a:solidFill>
                  <a:srgbClr val="172033"/>
                </a:solidFill>
                <a:latin typeface="SimSun"/>
                <a:ea typeface="SimSun"/>
                <a:cs typeface="SimSun"/>
              </a:rPr>
              <a:t>筛选待处理航班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C0D65A2-D0B2-40CC-A22F-8DC4D5107453}"/>
              </a:ext>
            </a:extLst>
          </p:cNvPr>
          <p:cNvSpPr>
            <a:spLocks noGrp="1"/>
          </p:cNvSpPr>
          <p:nvPr/>
        </p:nvSpPr>
        <p:spPr>
          <a:xfrm>
            <a:off x="4000500" y="2667000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rPr>
              <a:t>计划时间 &lt;= 当前仿真时间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452B866-DB3E-4532-90E0-E4686FB7E71D}"/>
              </a:ext>
            </a:extLst>
          </p:cNvPr>
          <p:cNvSpPr>
            <a:spLocks noGrp="1"/>
          </p:cNvSpPr>
          <p:nvPr/>
        </p:nvSpPr>
        <p:spPr>
          <a:xfrm>
            <a:off x="1219200" y="3000375"/>
            <a:ext cx="9525" cy="285750"/>
          </a:xfrm>
          <a:prstGeom prst="rect">
            <a:avLst/>
          </a:prstGeom>
          <a:solidFill>
            <a:srgbClr val="B7C5CE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576B951-90BE-4EFE-A71C-EBB7EBC947A6}"/>
              </a:ext>
            </a:extLst>
          </p:cNvPr>
          <p:cNvSpPr>
            <a:spLocks noGrp="1"/>
          </p:cNvSpPr>
          <p:nvPr/>
        </p:nvSpPr>
        <p:spPr>
          <a:xfrm>
            <a:off x="933450" y="33528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D69A27"/>
                </a:solidFill>
                <a:latin typeface="Consolas"/>
                <a:ea typeface="Consolas"/>
                <a:cs typeface="Consolas"/>
              </a:defRPr>
            </a:pPr>
            <a:r>
              <a:rPr sz="1725" b="1">
                <a:solidFill>
                  <a:srgbClr val="D69A27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4BE3FD6-AE16-4BA9-BD97-4FB5044A1D86}"/>
              </a:ext>
            </a:extLst>
          </p:cNvPr>
          <p:cNvSpPr>
            <a:spLocks noGrp="1"/>
          </p:cNvSpPr>
          <p:nvPr/>
        </p:nvSpPr>
        <p:spPr>
          <a:xfrm>
            <a:off x="1638300" y="33337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72033"/>
                </a:solidFill>
                <a:latin typeface="SimSun"/>
                <a:ea typeface="SimSun"/>
                <a:cs typeface="SimSun"/>
              </a:defRPr>
            </a:pPr>
            <a:r>
              <a:rPr sz="1650" b="1">
                <a:solidFill>
                  <a:srgbClr val="172033"/>
                </a:solidFill>
                <a:latin typeface="SimSun"/>
                <a:ea typeface="SimSun"/>
                <a:cs typeface="SimSun"/>
              </a:rPr>
              <a:t>排序等待队列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4592B7F-5D93-48B7-A4D2-71805AE6A9D0}"/>
              </a:ext>
            </a:extLst>
          </p:cNvPr>
          <p:cNvSpPr>
            <a:spLocks noGrp="1"/>
          </p:cNvSpPr>
          <p:nvPr/>
        </p:nvSpPr>
        <p:spPr>
          <a:xfrm>
            <a:off x="4000500" y="3352800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rPr>
              <a:t>计划时间优先；同一时间到达航班优先；再看 priority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205F359-730B-4D58-A703-635A539D0E7E}"/>
              </a:ext>
            </a:extLst>
          </p:cNvPr>
          <p:cNvSpPr>
            <a:spLocks noGrp="1"/>
          </p:cNvSpPr>
          <p:nvPr/>
        </p:nvSpPr>
        <p:spPr>
          <a:xfrm>
            <a:off x="1219200" y="3686175"/>
            <a:ext cx="9525" cy="285750"/>
          </a:xfrm>
          <a:prstGeom prst="rect">
            <a:avLst/>
          </a:prstGeom>
          <a:solidFill>
            <a:srgbClr val="B7C5CE"/>
          </a:solidFill>
          <a:ln w="0">
            <a:noFill/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28F3F1B-7CEA-45FF-BC5F-6FE8043DE4D2}"/>
              </a:ext>
            </a:extLst>
          </p:cNvPr>
          <p:cNvSpPr>
            <a:spLocks noGrp="1"/>
          </p:cNvSpPr>
          <p:nvPr/>
        </p:nvSpPr>
        <p:spPr>
          <a:xfrm>
            <a:off x="933450" y="40386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9B5F37"/>
                </a:solidFill>
                <a:latin typeface="Consolas"/>
                <a:ea typeface="Consolas"/>
                <a:cs typeface="Consolas"/>
              </a:defRPr>
            </a:pPr>
            <a:r>
              <a:rPr sz="1725" b="1">
                <a:solidFill>
                  <a:srgbClr val="9B5F37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CAA9D78-7EC4-4972-A636-733CC1068135}"/>
              </a:ext>
            </a:extLst>
          </p:cNvPr>
          <p:cNvSpPr>
            <a:spLocks noGrp="1"/>
          </p:cNvSpPr>
          <p:nvPr/>
        </p:nvSpPr>
        <p:spPr>
          <a:xfrm>
            <a:off x="1638300" y="40195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72033"/>
                </a:solidFill>
                <a:latin typeface="SimSun"/>
                <a:ea typeface="SimSun"/>
                <a:cs typeface="SimSun"/>
              </a:defRPr>
            </a:pPr>
            <a:r>
              <a:rPr sz="1650" b="1">
                <a:solidFill>
                  <a:srgbClr val="172033"/>
                </a:solidFill>
                <a:latin typeface="SimSun"/>
                <a:ea typeface="SimSun"/>
                <a:cs typeface="SimSun"/>
              </a:rPr>
              <a:t>尝试分配资源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FE53CDA-8AF5-4A3D-94DE-8B1E7596066C}"/>
              </a:ext>
            </a:extLst>
          </p:cNvPr>
          <p:cNvSpPr>
            <a:spLocks noGrp="1"/>
          </p:cNvSpPr>
          <p:nvPr/>
        </p:nvSpPr>
        <p:spPr>
          <a:xfrm>
            <a:off x="4000500" y="4038600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rPr>
              <a:t>起飞需要跑道；到达需要跑道 + 适配机位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725EE7E-0CD9-4369-BA7A-AC557D83B13E}"/>
              </a:ext>
            </a:extLst>
          </p:cNvPr>
          <p:cNvSpPr>
            <a:spLocks noGrp="1"/>
          </p:cNvSpPr>
          <p:nvPr/>
        </p:nvSpPr>
        <p:spPr>
          <a:xfrm>
            <a:off x="1219200" y="4371975"/>
            <a:ext cx="9525" cy="285750"/>
          </a:xfrm>
          <a:prstGeom prst="rect">
            <a:avLst/>
          </a:prstGeom>
          <a:solidFill>
            <a:srgbClr val="B7C5CE"/>
          </a:solidFill>
          <a:ln w="0"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55B18B8-6637-4981-BDD1-FD2E7E69811E}"/>
              </a:ext>
            </a:extLst>
          </p:cNvPr>
          <p:cNvSpPr>
            <a:spLocks noGrp="1"/>
          </p:cNvSpPr>
          <p:nvPr/>
        </p:nvSpPr>
        <p:spPr>
          <a:xfrm>
            <a:off x="933450" y="47244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B95045"/>
                </a:solidFill>
                <a:latin typeface="Consolas"/>
                <a:ea typeface="Consolas"/>
                <a:cs typeface="Consolas"/>
              </a:defRPr>
            </a:pPr>
            <a:r>
              <a:rPr sz="1725" b="1">
                <a:solidFill>
                  <a:srgbClr val="B95045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F888889-4A53-48ED-8A15-BAC4DCD39DD9}"/>
              </a:ext>
            </a:extLst>
          </p:cNvPr>
          <p:cNvSpPr>
            <a:spLocks noGrp="1"/>
          </p:cNvSpPr>
          <p:nvPr/>
        </p:nvSpPr>
        <p:spPr>
          <a:xfrm>
            <a:off x="1638300" y="47053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72033"/>
                </a:solidFill>
                <a:latin typeface="SimSun"/>
                <a:ea typeface="SimSun"/>
                <a:cs typeface="SimSun"/>
              </a:defRPr>
            </a:pPr>
            <a:r>
              <a:rPr sz="1650" b="1">
                <a:solidFill>
                  <a:srgbClr val="172033"/>
                </a:solidFill>
                <a:latin typeface="SimSun"/>
                <a:ea typeface="SimSun"/>
                <a:cs typeface="SimSun"/>
              </a:rPr>
              <a:t>记录结果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3AB448F-A612-432D-9010-C79E720CF27C}"/>
              </a:ext>
            </a:extLst>
          </p:cNvPr>
          <p:cNvSpPr>
            <a:spLocks noGrp="1"/>
          </p:cNvSpPr>
          <p:nvPr/>
        </p:nvSpPr>
        <p:spPr>
          <a:xfrm>
            <a:off x="4000500" y="4724400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rPr>
              <a:t>成功写入分配/完成事件；失败累计延误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B54EC8EE-7C48-4680-9750-7BFC4EDBFD51}"/>
              </a:ext>
            </a:extLst>
          </p:cNvPr>
          <p:cNvSpPr>
            <a:spLocks noGrp="1"/>
          </p:cNvSpPr>
          <p:nvPr/>
        </p:nvSpPr>
        <p:spPr>
          <a:xfrm>
            <a:off x="8477250" y="2038350"/>
            <a:ext cx="2476500" cy="2667000"/>
          </a:xfrm>
          <a:prstGeom prst="roundRect">
            <a:avLst>
              <a:gd name="adj" fmla="val 4615"/>
            </a:avLst>
          </a:prstGeom>
          <a:solidFill>
            <a:srgbClr val="FFFDF7"/>
          </a:solidFill>
          <a:ln w="9525">
            <a:solidFill>
              <a:srgbClr val="E4DCCC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0CD21E3-9578-4AF8-A4AB-9F217D4F5963}"/>
              </a:ext>
            </a:extLst>
          </p:cNvPr>
          <p:cNvSpPr>
            <a:spLocks noGrp="1"/>
          </p:cNvSpPr>
          <p:nvPr/>
        </p:nvSpPr>
        <p:spPr>
          <a:xfrm>
            <a:off x="8743950" y="23241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0C2742"/>
                </a:solidFill>
                <a:latin typeface="SimSun"/>
                <a:ea typeface="SimSun"/>
                <a:cs typeface="SimSun"/>
              </a:defRPr>
            </a:pPr>
            <a:r>
              <a:rPr sz="1800" b="1">
                <a:solidFill>
                  <a:srgbClr val="0C2742"/>
                </a:solidFill>
                <a:latin typeface="SimSun"/>
                <a:ea typeface="SimSun"/>
                <a:cs typeface="SimSun"/>
              </a:rPr>
              <a:t>状态结果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FAD4C0A-B07F-4749-9D5A-86B7858CAB32}"/>
              </a:ext>
            </a:extLst>
          </p:cNvPr>
          <p:cNvSpPr>
            <a:spLocks noGrp="1"/>
          </p:cNvSpPr>
          <p:nvPr/>
        </p:nvSpPr>
        <p:spPr>
          <a:xfrm>
            <a:off x="8763000" y="2895600"/>
            <a:ext cx="1524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536879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536879"/>
                </a:solidFill>
                <a:latin typeface="Consolas"/>
                <a:ea typeface="Consolas"/>
                <a:cs typeface="Consolas"/>
              </a:rPr>
              <a:t>COMPLETED</a:t>
            </a:r>
          </a:p>
          <a:p>
            <a:pPr algn="l">
              <a:defRPr sz="1650" b="0">
                <a:solidFill>
                  <a:srgbClr val="536879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536879"/>
                </a:solidFill>
                <a:latin typeface="Consolas"/>
                <a:ea typeface="Consolas"/>
                <a:cs typeface="Consolas"/>
              </a:rPr>
              <a:t>DELAYED</a:t>
            </a:r>
          </a:p>
          <a:p>
            <a:pPr algn="l">
              <a:defRPr sz="1650" b="0">
                <a:solidFill>
                  <a:srgbClr val="536879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536879"/>
                </a:solidFill>
                <a:latin typeface="Consolas"/>
                <a:ea typeface="Consolas"/>
                <a:cs typeface="Consolas"/>
              </a:rPr>
              <a:t>WAITING</a:t>
            </a:r>
          </a:p>
          <a:p>
            <a:pPr algn="l">
              <a:defRPr sz="1650" b="0">
                <a:solidFill>
                  <a:srgbClr val="536879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536879"/>
                </a:solidFill>
                <a:latin typeface="Consolas"/>
                <a:ea typeface="Consolas"/>
                <a:cs typeface="Consolas"/>
              </a:rPr>
              <a:t>RUNNING</a:t>
            </a:r>
          </a:p>
          <a:p>
            <a:pPr algn="l">
              <a:defRPr sz="1650" b="0">
                <a:solidFill>
                  <a:srgbClr val="536879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536879"/>
                </a:solidFill>
                <a:latin typeface="Consolas"/>
                <a:ea typeface="Consolas"/>
                <a:cs typeface="Consolas"/>
              </a:rPr>
              <a:t>FINISHED</a:t>
            </a:r>
          </a:p>
        </p:txBody>
      </p:sp>
    </p:spTree>
    <p:extLst>
      <p:ext uri="{BB962C8B-B14F-4D97-AF65-F5344CB8AC3E}">
        <p14:creationId xmlns:p14="http://schemas.microsoft.com/office/powerpoint/2010/main" val="166397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BB9E1B1B-4682-4664-8EA4-5AEE756B3C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C4DC361-DFFD-466B-9C3B-42D6DBA95D8D}"/>
              </a:ext>
            </a:extLst>
          </p:cNvPr>
          <p:cNvSpPr>
            <a:spLocks noGrp="1"/>
          </p:cNvSpPr>
          <p:nvPr/>
        </p:nvSpPr>
        <p:spPr>
          <a:xfrm>
            <a:off x="704850" y="62865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0C2742"/>
                </a:solidFill>
                <a:latin typeface="SimSun"/>
                <a:ea typeface="SimSun"/>
                <a:cs typeface="SimSun"/>
              </a:defRPr>
            </a:pPr>
            <a:r>
              <a:rPr sz="2550" b="1">
                <a:solidFill>
                  <a:srgbClr val="0C2742"/>
                </a:solidFill>
                <a:latin typeface="SimSun"/>
                <a:ea typeface="SimSun"/>
                <a:cs typeface="SimSun"/>
              </a:rPr>
              <a:t>功能实现：从管理页面扩展到运控视角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BD18F80-92A1-427D-941D-48040269FF65}"/>
              </a:ext>
            </a:extLst>
          </p:cNvPr>
          <p:cNvSpPr>
            <a:spLocks noGrp="1"/>
          </p:cNvSpPr>
          <p:nvPr/>
        </p:nvSpPr>
        <p:spPr>
          <a:xfrm>
            <a:off x="685800" y="6210300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6B7D8C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B7D8C"/>
                </a:solidFill>
                <a:latin typeface="Consolas"/>
                <a:ea typeface="Consolas"/>
                <a:cs typeface="Consolas"/>
              </a:rPr>
              <a:t>AIRPORT FLIGHT SIMULATION / 07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E5804B3-DB0F-4F26-A136-6372B6F81CF8}"/>
              </a:ext>
            </a:extLst>
          </p:cNvPr>
          <p:cNvSpPr>
            <a:spLocks noGrp="1"/>
          </p:cNvSpPr>
          <p:nvPr/>
        </p:nvSpPr>
        <p:spPr>
          <a:xfrm>
            <a:off x="9677400" y="6315075"/>
            <a:ext cx="1790700" cy="9525"/>
          </a:xfrm>
          <a:prstGeom prst="rect">
            <a:avLst/>
          </a:prstGeom>
          <a:solidFill>
            <a:srgbClr val="9CB4C4"/>
          </a:solidFill>
          <a:ln w="0">
            <a:noFill/>
            <a:prstDash val="solid"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3D92B729-7FF9-41E2-98EA-0A3F41FE058B}"/>
              </a:ext>
            </a:extLst>
          </p:cNvPr>
          <p:cNvSpPr>
            <a:spLocks noGrp="1"/>
          </p:cNvSpPr>
          <p:nvPr/>
        </p:nvSpPr>
        <p:spPr>
          <a:xfrm>
            <a:off x="876300" y="2190750"/>
            <a:ext cx="2133600" cy="2609850"/>
          </a:xfrm>
          <a:prstGeom prst="roundRect">
            <a:avLst>
              <a:gd name="adj" fmla="val 5357"/>
            </a:avLst>
          </a:prstGeom>
          <a:solidFill>
            <a:srgbClr val="FFFDF7"/>
          </a:solidFill>
          <a:ln w="9525">
            <a:solidFill>
              <a:srgbClr val="E4DCCC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0FC81A7-6B8E-440C-8087-C220E0066A8E}"/>
              </a:ext>
            </a:extLst>
          </p:cNvPr>
          <p:cNvSpPr>
            <a:spLocks noGrp="1"/>
          </p:cNvSpPr>
          <p:nvPr/>
        </p:nvSpPr>
        <p:spPr>
          <a:xfrm>
            <a:off x="1104900" y="2495550"/>
            <a:ext cx="1676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2D6F9F"/>
                </a:solidFill>
                <a:latin typeface="SimSun"/>
                <a:ea typeface="SimSun"/>
                <a:cs typeface="SimSun"/>
              </a:defRPr>
            </a:pPr>
            <a:r>
              <a:rPr sz="1875" b="1">
                <a:solidFill>
                  <a:srgbClr val="2D6F9F"/>
                </a:solidFill>
                <a:latin typeface="SimSun"/>
                <a:ea typeface="SimSun"/>
                <a:cs typeface="SimSun"/>
              </a:rPr>
              <a:t>基础管理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82F72BE-7A07-499F-9EE1-48058DEDC0B5}"/>
              </a:ext>
            </a:extLst>
          </p:cNvPr>
          <p:cNvSpPr>
            <a:spLocks noGrp="1"/>
          </p:cNvSpPr>
          <p:nvPr/>
        </p:nvSpPr>
        <p:spPr>
          <a:xfrm>
            <a:off x="1123950" y="3105150"/>
            <a:ext cx="16002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rPr>
              <a:t>航班管理</a:t>
            </a:r>
          </a:p>
          <a:p>
            <a:pPr algn="l">
              <a:defRPr sz="1500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rPr>
              <a:t>跑道管理</a:t>
            </a:r>
          </a:p>
          <a:p>
            <a:pPr algn="l">
              <a:defRPr sz="1500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rPr>
              <a:t>停机位管理</a:t>
            </a:r>
          </a:p>
          <a:p>
            <a:pPr algn="l">
              <a:defRPr sz="1500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rPr>
              <a:t>登录与仪表盘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C3B6306A-A5DE-423F-8F07-BE030A8B7754}"/>
              </a:ext>
            </a:extLst>
          </p:cNvPr>
          <p:cNvSpPr>
            <a:spLocks noGrp="1"/>
          </p:cNvSpPr>
          <p:nvPr/>
        </p:nvSpPr>
        <p:spPr>
          <a:xfrm>
            <a:off x="3486150" y="2190750"/>
            <a:ext cx="2133600" cy="2609850"/>
          </a:xfrm>
          <a:prstGeom prst="roundRect">
            <a:avLst>
              <a:gd name="adj" fmla="val 5357"/>
            </a:avLst>
          </a:prstGeom>
          <a:solidFill>
            <a:srgbClr val="FFFDF7"/>
          </a:solidFill>
          <a:ln w="9525">
            <a:solidFill>
              <a:srgbClr val="E4DCCC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E66F0DE-F615-4FC9-AE68-886DE5F91DAC}"/>
              </a:ext>
            </a:extLst>
          </p:cNvPr>
          <p:cNvSpPr>
            <a:spLocks noGrp="1"/>
          </p:cNvSpPr>
          <p:nvPr/>
        </p:nvSpPr>
        <p:spPr>
          <a:xfrm>
            <a:off x="3714750" y="2495550"/>
            <a:ext cx="1676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D69A27"/>
                </a:solidFill>
                <a:latin typeface="SimSun"/>
                <a:ea typeface="SimSun"/>
                <a:cs typeface="SimSun"/>
              </a:defRPr>
            </a:pPr>
            <a:r>
              <a:rPr sz="1875" b="1">
                <a:solidFill>
                  <a:srgbClr val="D69A27"/>
                </a:solidFill>
                <a:latin typeface="SimSun"/>
                <a:ea typeface="SimSun"/>
                <a:cs typeface="SimSun"/>
              </a:rPr>
              <a:t>仿真过程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9AB2F44-4D61-4B24-B991-4FDE6C5BB21A}"/>
              </a:ext>
            </a:extLst>
          </p:cNvPr>
          <p:cNvSpPr>
            <a:spLocks noGrp="1"/>
          </p:cNvSpPr>
          <p:nvPr/>
        </p:nvSpPr>
        <p:spPr>
          <a:xfrm>
            <a:off x="3733800" y="3105150"/>
            <a:ext cx="16002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rPr>
              <a:t>创建任务</a:t>
            </a:r>
          </a:p>
          <a:p>
            <a:pPr algn="l">
              <a:defRPr sz="1500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rPr>
              <a:t>单步推进</a:t>
            </a:r>
          </a:p>
          <a:p>
            <a:pPr algn="l">
              <a:defRPr sz="1500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rPr>
              <a:t>自动运行</a:t>
            </a:r>
          </a:p>
          <a:p>
            <a:pPr algn="l">
              <a:defRPr sz="1500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rPr>
              <a:t>事件日志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4BDB7D69-345B-447F-B3AA-E95F4B8C8198}"/>
              </a:ext>
            </a:extLst>
          </p:cNvPr>
          <p:cNvSpPr>
            <a:spLocks noGrp="1"/>
          </p:cNvSpPr>
          <p:nvPr/>
        </p:nvSpPr>
        <p:spPr>
          <a:xfrm>
            <a:off x="6096000" y="2190750"/>
            <a:ext cx="2133600" cy="2609850"/>
          </a:xfrm>
          <a:prstGeom prst="roundRect">
            <a:avLst>
              <a:gd name="adj" fmla="val 5357"/>
            </a:avLst>
          </a:prstGeom>
          <a:solidFill>
            <a:srgbClr val="FFFDF7"/>
          </a:solidFill>
          <a:ln w="9525">
            <a:solidFill>
              <a:srgbClr val="E4DCCC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9881134-FBD4-4101-95C0-2DA4F64BB943}"/>
              </a:ext>
            </a:extLst>
          </p:cNvPr>
          <p:cNvSpPr>
            <a:spLocks noGrp="1"/>
          </p:cNvSpPr>
          <p:nvPr/>
        </p:nvSpPr>
        <p:spPr>
          <a:xfrm>
            <a:off x="6324600" y="2495550"/>
            <a:ext cx="1676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3B8D72"/>
                </a:solidFill>
                <a:latin typeface="SimSun"/>
                <a:ea typeface="SimSun"/>
                <a:cs typeface="SimSun"/>
              </a:defRPr>
            </a:pPr>
            <a:r>
              <a:rPr sz="1875" b="1">
                <a:solidFill>
                  <a:srgbClr val="3B8D72"/>
                </a:solidFill>
                <a:latin typeface="SimSun"/>
                <a:ea typeface="SimSun"/>
                <a:cs typeface="SimSun"/>
              </a:rPr>
              <a:t>统计分析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8DFEDA9-D9AE-434A-8DE2-6921FE800829}"/>
              </a:ext>
            </a:extLst>
          </p:cNvPr>
          <p:cNvSpPr>
            <a:spLocks noGrp="1"/>
          </p:cNvSpPr>
          <p:nvPr/>
        </p:nvSpPr>
        <p:spPr>
          <a:xfrm>
            <a:off x="6343650" y="3105150"/>
            <a:ext cx="16002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rPr>
              <a:t>完成率</a:t>
            </a:r>
          </a:p>
          <a:p>
            <a:pPr algn="l">
              <a:defRPr sz="1500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rPr>
              <a:t>延误率</a:t>
            </a:r>
          </a:p>
          <a:p>
            <a:pPr algn="l">
              <a:defRPr sz="1500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rPr>
              <a:t>跑道占用率</a:t>
            </a:r>
          </a:p>
          <a:p>
            <a:pPr algn="l">
              <a:defRPr sz="1500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rPr>
              <a:t>停机位占用率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49583B8A-DC77-4E1B-8943-6DB696824F66}"/>
              </a:ext>
            </a:extLst>
          </p:cNvPr>
          <p:cNvSpPr>
            <a:spLocks noGrp="1"/>
          </p:cNvSpPr>
          <p:nvPr/>
        </p:nvSpPr>
        <p:spPr>
          <a:xfrm>
            <a:off x="8705850" y="2190750"/>
            <a:ext cx="2133600" cy="2609850"/>
          </a:xfrm>
          <a:prstGeom prst="roundRect">
            <a:avLst>
              <a:gd name="adj" fmla="val 5357"/>
            </a:avLst>
          </a:prstGeom>
          <a:solidFill>
            <a:srgbClr val="FFFDF7"/>
          </a:solidFill>
          <a:ln w="9525">
            <a:solidFill>
              <a:srgbClr val="E4DCCC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4F8111C-A203-4422-80DE-8E4693A53943}"/>
              </a:ext>
            </a:extLst>
          </p:cNvPr>
          <p:cNvSpPr>
            <a:spLocks noGrp="1"/>
          </p:cNvSpPr>
          <p:nvPr/>
        </p:nvSpPr>
        <p:spPr>
          <a:xfrm>
            <a:off x="8934450" y="2495550"/>
            <a:ext cx="1676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9B5F37"/>
                </a:solidFill>
                <a:latin typeface="SimSun"/>
                <a:ea typeface="SimSun"/>
                <a:cs typeface="SimSun"/>
              </a:defRPr>
            </a:pPr>
            <a:r>
              <a:rPr sz="1875" b="1">
                <a:solidFill>
                  <a:srgbClr val="9B5F37"/>
                </a:solidFill>
                <a:latin typeface="SimSun"/>
                <a:ea typeface="SimSun"/>
                <a:cs typeface="SimSun"/>
              </a:rPr>
              <a:t>运控扩展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313CCE4-23F1-4178-8FF2-85E7E4F62704}"/>
              </a:ext>
            </a:extLst>
          </p:cNvPr>
          <p:cNvSpPr>
            <a:spLocks noGrp="1"/>
          </p:cNvSpPr>
          <p:nvPr/>
        </p:nvSpPr>
        <p:spPr>
          <a:xfrm>
            <a:off x="8953500" y="3105150"/>
            <a:ext cx="16002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rPr>
              <a:t>冲突预警</a:t>
            </a:r>
          </a:p>
          <a:p>
            <a:pPr algn="l">
              <a:defRPr sz="1500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rPr>
              <a:t>资源推荐</a:t>
            </a:r>
          </a:p>
          <a:p>
            <a:pPr algn="l">
              <a:defRPr sz="1500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rPr>
              <a:t>场景对比</a:t>
            </a:r>
          </a:p>
          <a:p>
            <a:pPr algn="l">
              <a:defRPr sz="1500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rPr>
              <a:t>CSV 导入导出</a:t>
            </a:r>
          </a:p>
        </p:txBody>
      </p:sp>
    </p:spTree>
    <p:extLst>
      <p:ext uri="{BB962C8B-B14F-4D97-AF65-F5344CB8AC3E}">
        <p14:creationId xmlns:p14="http://schemas.microsoft.com/office/powerpoint/2010/main" val="1902547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3FD7CE6-FC46-49D4-958B-7A7CA59EDA5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A38E44-1906-4E5C-80F8-C3219142641E}"/>
              </a:ext>
            </a:extLst>
          </p:cNvPr>
          <p:cNvSpPr>
            <a:spLocks noGrp="1"/>
          </p:cNvSpPr>
          <p:nvPr/>
        </p:nvSpPr>
        <p:spPr>
          <a:xfrm>
            <a:off x="704850" y="62865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0C2742"/>
                </a:solidFill>
                <a:latin typeface="SimSun"/>
                <a:ea typeface="SimSun"/>
                <a:cs typeface="SimSun"/>
              </a:defRPr>
            </a:pPr>
            <a:r>
              <a:rPr sz="2550" b="1">
                <a:solidFill>
                  <a:srgbClr val="0C2742"/>
                </a:solidFill>
                <a:latin typeface="SimSun"/>
                <a:ea typeface="SimSun"/>
                <a:cs typeface="SimSun"/>
              </a:rPr>
              <a:t>测试结果：用 32 个测试证明核心路径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679A2E-91AE-4573-86A8-B2863B07C705}"/>
              </a:ext>
            </a:extLst>
          </p:cNvPr>
          <p:cNvSpPr>
            <a:spLocks noGrp="1"/>
          </p:cNvSpPr>
          <p:nvPr/>
        </p:nvSpPr>
        <p:spPr>
          <a:xfrm>
            <a:off x="685800" y="6210300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6B7D8C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B7D8C"/>
                </a:solidFill>
                <a:latin typeface="Consolas"/>
                <a:ea typeface="Consolas"/>
                <a:cs typeface="Consolas"/>
              </a:rPr>
              <a:t>AIRPORT FLIGHT SIMULATION / 08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5D1BB9F-6576-41A3-B1D8-1528B8046B3F}"/>
              </a:ext>
            </a:extLst>
          </p:cNvPr>
          <p:cNvSpPr>
            <a:spLocks noGrp="1"/>
          </p:cNvSpPr>
          <p:nvPr/>
        </p:nvSpPr>
        <p:spPr>
          <a:xfrm>
            <a:off x="9677400" y="6315075"/>
            <a:ext cx="1790700" cy="9525"/>
          </a:xfrm>
          <a:prstGeom prst="rect">
            <a:avLst/>
          </a:prstGeom>
          <a:solidFill>
            <a:srgbClr val="9CB4C4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F7FC0DE-200A-4E7C-8D50-E88EF7846EA9}"/>
              </a:ext>
            </a:extLst>
          </p:cNvPr>
          <p:cNvSpPr>
            <a:spLocks noGrp="1"/>
          </p:cNvSpPr>
          <p:nvPr/>
        </p:nvSpPr>
        <p:spPr>
          <a:xfrm>
            <a:off x="914400" y="2305050"/>
            <a:ext cx="1428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900" b="1">
                <a:solidFill>
                  <a:srgbClr val="2D6F9F"/>
                </a:solidFill>
                <a:latin typeface="Consolas"/>
                <a:ea typeface="Consolas"/>
                <a:cs typeface="Consolas"/>
              </a:defRPr>
            </a:pPr>
            <a:r>
              <a:rPr sz="3900" b="1">
                <a:solidFill>
                  <a:srgbClr val="2D6F9F"/>
                </a:solidFill>
                <a:latin typeface="Consolas"/>
                <a:ea typeface="Consolas"/>
                <a:cs typeface="Consolas"/>
              </a:rPr>
              <a:t>32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E16F916-01E1-4198-9022-F70D8433A3DF}"/>
              </a:ext>
            </a:extLst>
          </p:cNvPr>
          <p:cNvSpPr>
            <a:spLocks noGrp="1"/>
          </p:cNvSpPr>
          <p:nvPr/>
        </p:nvSpPr>
        <p:spPr>
          <a:xfrm>
            <a:off x="914400" y="29527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72033"/>
                </a:solidFill>
                <a:latin typeface="SimSun"/>
                <a:ea typeface="SimSun"/>
                <a:cs typeface="SimSun"/>
              </a:defRPr>
            </a:pPr>
            <a:r>
              <a:rPr sz="1650" b="1">
                <a:solidFill>
                  <a:srgbClr val="172033"/>
                </a:solidFill>
                <a:latin typeface="SimSun"/>
                <a:ea typeface="SimSun"/>
                <a:cs typeface="SimSun"/>
              </a:rPr>
              <a:t>Tests run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E8A73F1-0AE1-4072-B8B1-5867FA4A90D6}"/>
              </a:ext>
            </a:extLst>
          </p:cNvPr>
          <p:cNvSpPr>
            <a:spLocks noGrp="1"/>
          </p:cNvSpPr>
          <p:nvPr/>
        </p:nvSpPr>
        <p:spPr>
          <a:xfrm>
            <a:off x="914400" y="3333750"/>
            <a:ext cx="1809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rPr>
              <a:t>Controller / Service / Repository / Entity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1D7BF54-49AC-4AA5-B3E6-179EA9B620D1}"/>
              </a:ext>
            </a:extLst>
          </p:cNvPr>
          <p:cNvSpPr>
            <a:spLocks noGrp="1"/>
          </p:cNvSpPr>
          <p:nvPr/>
        </p:nvSpPr>
        <p:spPr>
          <a:xfrm>
            <a:off x="914400" y="4038600"/>
            <a:ext cx="1200150" cy="19050"/>
          </a:xfrm>
          <a:prstGeom prst="rect">
            <a:avLst/>
          </a:prstGeom>
          <a:solidFill>
            <a:srgbClr val="2D6F9F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7A3F3E3-195A-4FFD-9E71-C78C804133E2}"/>
              </a:ext>
            </a:extLst>
          </p:cNvPr>
          <p:cNvSpPr>
            <a:spLocks noGrp="1"/>
          </p:cNvSpPr>
          <p:nvPr/>
        </p:nvSpPr>
        <p:spPr>
          <a:xfrm>
            <a:off x="3181350" y="2305050"/>
            <a:ext cx="1428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900" b="1">
                <a:solidFill>
                  <a:srgbClr val="3B8D72"/>
                </a:solidFill>
                <a:latin typeface="Consolas"/>
                <a:ea typeface="Consolas"/>
                <a:cs typeface="Consolas"/>
              </a:defRPr>
            </a:pPr>
            <a:r>
              <a:rPr sz="3900" b="1">
                <a:solidFill>
                  <a:srgbClr val="3B8D72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D967574-3131-4C40-9DDD-27B9F5626FD6}"/>
              </a:ext>
            </a:extLst>
          </p:cNvPr>
          <p:cNvSpPr>
            <a:spLocks noGrp="1"/>
          </p:cNvSpPr>
          <p:nvPr/>
        </p:nvSpPr>
        <p:spPr>
          <a:xfrm>
            <a:off x="3181350" y="29527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72033"/>
                </a:solidFill>
                <a:latin typeface="SimSun"/>
                <a:ea typeface="SimSun"/>
                <a:cs typeface="SimSun"/>
              </a:defRPr>
            </a:pPr>
            <a:r>
              <a:rPr sz="1650" b="1">
                <a:solidFill>
                  <a:srgbClr val="172033"/>
                </a:solidFill>
                <a:latin typeface="SimSun"/>
                <a:ea typeface="SimSun"/>
                <a:cs typeface="SimSun"/>
              </a:rPr>
              <a:t>Failures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E337D42-34DF-421F-B175-46D68988E9DD}"/>
              </a:ext>
            </a:extLst>
          </p:cNvPr>
          <p:cNvSpPr>
            <a:spLocks noGrp="1"/>
          </p:cNvSpPr>
          <p:nvPr/>
        </p:nvSpPr>
        <p:spPr>
          <a:xfrm>
            <a:off x="3181350" y="3333750"/>
            <a:ext cx="1809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rPr>
              <a:t>无断言失败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106D222-8EAD-4D76-9DC4-2F15E616F089}"/>
              </a:ext>
            </a:extLst>
          </p:cNvPr>
          <p:cNvSpPr>
            <a:spLocks noGrp="1"/>
          </p:cNvSpPr>
          <p:nvPr/>
        </p:nvSpPr>
        <p:spPr>
          <a:xfrm>
            <a:off x="3181350" y="4038600"/>
            <a:ext cx="1200150" cy="19050"/>
          </a:xfrm>
          <a:prstGeom prst="rect">
            <a:avLst/>
          </a:prstGeom>
          <a:solidFill>
            <a:srgbClr val="3B8D72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AB79110-743E-4881-9EAE-06E057F211DE}"/>
              </a:ext>
            </a:extLst>
          </p:cNvPr>
          <p:cNvSpPr>
            <a:spLocks noGrp="1"/>
          </p:cNvSpPr>
          <p:nvPr/>
        </p:nvSpPr>
        <p:spPr>
          <a:xfrm>
            <a:off x="5448300" y="2305050"/>
            <a:ext cx="1428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900" b="1">
                <a:solidFill>
                  <a:srgbClr val="D69A27"/>
                </a:solidFill>
                <a:latin typeface="Consolas"/>
                <a:ea typeface="Consolas"/>
                <a:cs typeface="Consolas"/>
              </a:defRPr>
            </a:pPr>
            <a:r>
              <a:rPr sz="3900" b="1">
                <a:solidFill>
                  <a:srgbClr val="D69A27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D80B6FB-9BF5-470C-8B8C-D7C56DFCA8D5}"/>
              </a:ext>
            </a:extLst>
          </p:cNvPr>
          <p:cNvSpPr>
            <a:spLocks noGrp="1"/>
          </p:cNvSpPr>
          <p:nvPr/>
        </p:nvSpPr>
        <p:spPr>
          <a:xfrm>
            <a:off x="5448300" y="29527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72033"/>
                </a:solidFill>
                <a:latin typeface="SimSun"/>
                <a:ea typeface="SimSun"/>
                <a:cs typeface="SimSun"/>
              </a:defRPr>
            </a:pPr>
            <a:r>
              <a:rPr sz="1650" b="1">
                <a:solidFill>
                  <a:srgbClr val="172033"/>
                </a:solidFill>
                <a:latin typeface="SimSun"/>
                <a:ea typeface="SimSun"/>
                <a:cs typeface="SimSun"/>
              </a:rPr>
              <a:t>Errors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42EAD2D-ED04-45A2-9AC4-9F42FB73DA70}"/>
              </a:ext>
            </a:extLst>
          </p:cNvPr>
          <p:cNvSpPr>
            <a:spLocks noGrp="1"/>
          </p:cNvSpPr>
          <p:nvPr/>
        </p:nvSpPr>
        <p:spPr>
          <a:xfrm>
            <a:off x="5448300" y="3333750"/>
            <a:ext cx="1809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rPr>
              <a:t>无运行错误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3A76993-CF5A-4844-97A6-4D8ED17111CF}"/>
              </a:ext>
            </a:extLst>
          </p:cNvPr>
          <p:cNvSpPr>
            <a:spLocks noGrp="1"/>
          </p:cNvSpPr>
          <p:nvPr/>
        </p:nvSpPr>
        <p:spPr>
          <a:xfrm>
            <a:off x="5448300" y="4038600"/>
            <a:ext cx="1200150" cy="19050"/>
          </a:xfrm>
          <a:prstGeom prst="rect">
            <a:avLst/>
          </a:prstGeom>
          <a:solidFill>
            <a:srgbClr val="D69A27"/>
          </a:solidFill>
          <a:ln w="0">
            <a:noFill/>
            <a:prstDash val="solid"/>
          </a:ln>
        </p:spPr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11587DE-FFEC-4908-BA77-8A679AA4C5E8}"/>
              </a:ext>
            </a:extLst>
          </p:cNvPr>
          <p:cNvSpPr>
            <a:spLocks noGrp="1"/>
          </p:cNvSpPr>
          <p:nvPr/>
        </p:nvSpPr>
        <p:spPr>
          <a:xfrm>
            <a:off x="7886700" y="2133600"/>
            <a:ext cx="3048000" cy="2857500"/>
          </a:xfrm>
          <a:prstGeom prst="roundRect">
            <a:avLst>
              <a:gd name="adj" fmla="val 4000"/>
            </a:avLst>
          </a:prstGeom>
          <a:solidFill>
            <a:srgbClr val="FFFDF7"/>
          </a:solidFill>
          <a:ln w="9525">
            <a:solidFill>
              <a:srgbClr val="E4DCCC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3AC8589-77E7-49F2-8FEE-0ED49B7CB5DB}"/>
              </a:ext>
            </a:extLst>
          </p:cNvPr>
          <p:cNvSpPr>
            <a:spLocks noGrp="1"/>
          </p:cNvSpPr>
          <p:nvPr/>
        </p:nvSpPr>
        <p:spPr>
          <a:xfrm>
            <a:off x="8172450" y="24003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0C2742"/>
                </a:solidFill>
                <a:latin typeface="SimSun"/>
                <a:ea typeface="SimSun"/>
                <a:cs typeface="SimSun"/>
              </a:defRPr>
            </a:pPr>
            <a:r>
              <a:rPr sz="1800" b="1">
                <a:solidFill>
                  <a:srgbClr val="0C2742"/>
                </a:solidFill>
                <a:latin typeface="SimSun"/>
                <a:ea typeface="SimSun"/>
                <a:cs typeface="SimSun"/>
              </a:rPr>
              <a:t>重点覆盖场景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3E42149-3F6D-44BA-A98A-359951C9C2E5}"/>
              </a:ext>
            </a:extLst>
          </p:cNvPr>
          <p:cNvSpPr>
            <a:spLocks noGrp="1"/>
          </p:cNvSpPr>
          <p:nvPr/>
        </p:nvSpPr>
        <p:spPr>
          <a:xfrm>
            <a:off x="8172450" y="2914650"/>
            <a:ext cx="2362200" cy="1485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rPr>
              <a:t>起飞航班分配空闲跑道</a:t>
            </a:r>
          </a:p>
          <a:p>
            <a:pPr algn="l">
              <a:defRPr sz="142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rPr>
              <a:t>到达航班分配跑道与机位</a:t>
            </a:r>
          </a:p>
          <a:p>
            <a:pPr algn="l">
              <a:defRPr sz="142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rPr>
              <a:t>跑道不可用时产生延误</a:t>
            </a:r>
          </a:p>
          <a:p>
            <a:pPr algn="l">
              <a:defRPr sz="142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rPr>
              <a:t>同时间到达航班优先</a:t>
            </a:r>
          </a:p>
          <a:p>
            <a:pPr algn="l">
              <a:defRPr sz="142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rPr>
              <a:t>占用到期后释放停机位</a:t>
            </a:r>
          </a:p>
        </p:txBody>
      </p:sp>
    </p:spTree>
    <p:extLst>
      <p:ext uri="{BB962C8B-B14F-4D97-AF65-F5344CB8AC3E}">
        <p14:creationId xmlns:p14="http://schemas.microsoft.com/office/powerpoint/2010/main" val="1045921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C5DCC95-C663-4D09-B533-19AC244B47C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333143D-A351-4BB7-A205-C82A34E2ACF2}"/>
              </a:ext>
            </a:extLst>
          </p:cNvPr>
          <p:cNvSpPr>
            <a:spLocks noGrp="1"/>
          </p:cNvSpPr>
          <p:nvPr/>
        </p:nvSpPr>
        <p:spPr>
          <a:xfrm>
            <a:off x="704850" y="62865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0C2742"/>
                </a:solidFill>
                <a:latin typeface="SimSun"/>
                <a:ea typeface="SimSun"/>
                <a:cs typeface="SimSun"/>
              </a:defRPr>
            </a:pPr>
            <a:r>
              <a:rPr sz="2550" b="1">
                <a:solidFill>
                  <a:srgbClr val="0C2742"/>
                </a:solidFill>
                <a:latin typeface="SimSun"/>
                <a:ea typeface="SimSun"/>
                <a:cs typeface="SimSun"/>
              </a:rPr>
              <a:t>部署运行：本地、局域网、Docker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05CD551-1AFC-4099-8E01-119344ECB2AB}"/>
              </a:ext>
            </a:extLst>
          </p:cNvPr>
          <p:cNvSpPr>
            <a:spLocks noGrp="1"/>
          </p:cNvSpPr>
          <p:nvPr/>
        </p:nvSpPr>
        <p:spPr>
          <a:xfrm>
            <a:off x="685800" y="6210300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6B7D8C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B7D8C"/>
                </a:solidFill>
                <a:latin typeface="Consolas"/>
                <a:ea typeface="Consolas"/>
                <a:cs typeface="Consolas"/>
              </a:rPr>
              <a:t>AIRPORT FLIGHT SIMULATION / 09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D11133B-3C44-4BE4-9B56-E7BEB7A92739}"/>
              </a:ext>
            </a:extLst>
          </p:cNvPr>
          <p:cNvSpPr>
            <a:spLocks noGrp="1"/>
          </p:cNvSpPr>
          <p:nvPr/>
        </p:nvSpPr>
        <p:spPr>
          <a:xfrm>
            <a:off x="9677400" y="6315075"/>
            <a:ext cx="1790700" cy="9525"/>
          </a:xfrm>
          <a:prstGeom prst="rect">
            <a:avLst/>
          </a:prstGeom>
          <a:solidFill>
            <a:srgbClr val="9CB4C4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D549388-E710-4DAF-AB5D-77B91C814F49}"/>
              </a:ext>
            </a:extLst>
          </p:cNvPr>
          <p:cNvSpPr>
            <a:spLocks noGrp="1"/>
          </p:cNvSpPr>
          <p:nvPr/>
        </p:nvSpPr>
        <p:spPr>
          <a:xfrm>
            <a:off x="933450" y="21717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2D6F9F"/>
                </a:solidFill>
                <a:latin typeface="SimSun"/>
                <a:ea typeface="SimSun"/>
                <a:cs typeface="SimSun"/>
              </a:defRPr>
            </a:pPr>
            <a:r>
              <a:rPr sz="1725" b="1">
                <a:solidFill>
                  <a:srgbClr val="2D6F9F"/>
                </a:solidFill>
                <a:latin typeface="SimSun"/>
                <a:ea typeface="SimSun"/>
                <a:cs typeface="SimSun"/>
              </a:rPr>
              <a:t>便携本地模式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CD61D29-D176-4CF2-A229-BED2E837B029}"/>
              </a:ext>
            </a:extLst>
          </p:cNvPr>
          <p:cNvSpPr>
            <a:spLocks noGrp="1"/>
          </p:cNvSpPr>
          <p:nvPr/>
        </p:nvSpPr>
        <p:spPr>
          <a:xfrm>
            <a:off x="3429000" y="2133600"/>
            <a:ext cx="3429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.\start-anywhere.ps1 -Port 8080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087BF2E-C918-47E8-8F23-F8CD1C1DCFA7}"/>
              </a:ext>
            </a:extLst>
          </p:cNvPr>
          <p:cNvSpPr>
            <a:spLocks noGrp="1"/>
          </p:cNvSpPr>
          <p:nvPr/>
        </p:nvSpPr>
        <p:spPr>
          <a:xfrm>
            <a:off x="7429500" y="217170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rPr>
              <a:t>使用 H2，本机无 MySQL 也能运行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F9A45F3-43CB-42AF-B135-99B3B0241D33}"/>
              </a:ext>
            </a:extLst>
          </p:cNvPr>
          <p:cNvSpPr>
            <a:spLocks noGrp="1"/>
          </p:cNvSpPr>
          <p:nvPr/>
        </p:nvSpPr>
        <p:spPr>
          <a:xfrm>
            <a:off x="914400" y="2819400"/>
            <a:ext cx="9620250" cy="9525"/>
          </a:xfrm>
          <a:prstGeom prst="rect">
            <a:avLst/>
          </a:prstGeom>
          <a:solidFill>
            <a:srgbClr val="D0C8BC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6D2EA36-BE29-4192-A664-8C8764794077}"/>
              </a:ext>
            </a:extLst>
          </p:cNvPr>
          <p:cNvSpPr>
            <a:spLocks noGrp="1"/>
          </p:cNvSpPr>
          <p:nvPr/>
        </p:nvSpPr>
        <p:spPr>
          <a:xfrm>
            <a:off x="933450" y="32385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D69A27"/>
                </a:solidFill>
                <a:latin typeface="SimSun"/>
                <a:ea typeface="SimSun"/>
                <a:cs typeface="SimSun"/>
              </a:defRPr>
            </a:pPr>
            <a:r>
              <a:rPr sz="1725" b="1">
                <a:solidFill>
                  <a:srgbClr val="D69A27"/>
                </a:solidFill>
                <a:latin typeface="SimSun"/>
                <a:ea typeface="SimSun"/>
                <a:cs typeface="SimSun"/>
              </a:rPr>
              <a:t>正式 MySQL 模式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DD3A556-E749-4250-9035-E0F730F87A8F}"/>
              </a:ext>
            </a:extLst>
          </p:cNvPr>
          <p:cNvSpPr>
            <a:spLocks noGrp="1"/>
          </p:cNvSpPr>
          <p:nvPr/>
        </p:nvSpPr>
        <p:spPr>
          <a:xfrm>
            <a:off x="3429000" y="3200400"/>
            <a:ext cx="3429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mvn package -DskipTests</a:t>
            </a:r>
          </a:p>
          <a:p>
            <a:pPr algn="l">
              <a:defRPr sz="127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java -jar target/...SNAPSHOT.jar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C66A62A-F702-4607-91D9-9FAF1189CA69}"/>
              </a:ext>
            </a:extLst>
          </p:cNvPr>
          <p:cNvSpPr>
            <a:spLocks noGrp="1"/>
          </p:cNvSpPr>
          <p:nvPr/>
        </p:nvSpPr>
        <p:spPr>
          <a:xfrm>
            <a:off x="7429500" y="323850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rPr>
              <a:t>连接 airport_simulation 数据库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0B6A917-30E8-4E83-BAE3-3BE7D6B81D43}"/>
              </a:ext>
            </a:extLst>
          </p:cNvPr>
          <p:cNvSpPr>
            <a:spLocks noGrp="1"/>
          </p:cNvSpPr>
          <p:nvPr/>
        </p:nvSpPr>
        <p:spPr>
          <a:xfrm>
            <a:off x="914400" y="3886200"/>
            <a:ext cx="9620250" cy="9525"/>
          </a:xfrm>
          <a:prstGeom prst="rect">
            <a:avLst/>
          </a:prstGeom>
          <a:solidFill>
            <a:srgbClr val="D0C8BC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6C24510-CE3D-4B73-946C-D3D6181D06CA}"/>
              </a:ext>
            </a:extLst>
          </p:cNvPr>
          <p:cNvSpPr>
            <a:spLocks noGrp="1"/>
          </p:cNvSpPr>
          <p:nvPr/>
        </p:nvSpPr>
        <p:spPr>
          <a:xfrm>
            <a:off x="933450" y="43053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3B8D72"/>
                </a:solidFill>
                <a:latin typeface="SimSun"/>
                <a:ea typeface="SimSun"/>
                <a:cs typeface="SimSun"/>
              </a:defRPr>
            </a:pPr>
            <a:r>
              <a:rPr sz="1725" b="1">
                <a:solidFill>
                  <a:srgbClr val="3B8D72"/>
                </a:solidFill>
                <a:latin typeface="SimSun"/>
                <a:ea typeface="SimSun"/>
                <a:cs typeface="SimSun"/>
              </a:rPr>
              <a:t>云服务器 Docker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3625051-30F2-4880-99E3-7DC9623108F6}"/>
              </a:ext>
            </a:extLst>
          </p:cNvPr>
          <p:cNvSpPr>
            <a:spLocks noGrp="1"/>
          </p:cNvSpPr>
          <p:nvPr/>
        </p:nvSpPr>
        <p:spPr>
          <a:xfrm>
            <a:off x="3429000" y="4267200"/>
            <a:ext cx="3429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docker compose up -d --build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4063AC5-B2AD-4792-8AF5-258972393905}"/>
              </a:ext>
            </a:extLst>
          </p:cNvPr>
          <p:cNvSpPr>
            <a:spLocks noGrp="1"/>
          </p:cNvSpPr>
          <p:nvPr/>
        </p:nvSpPr>
        <p:spPr>
          <a:xfrm>
            <a:off x="7429500" y="430530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rPr>
              <a:t>包含 app 与 MySQL，适合公网演示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9B1E2FC-D6FD-4490-A1AE-48FAAA2F3374}"/>
              </a:ext>
            </a:extLst>
          </p:cNvPr>
          <p:cNvSpPr>
            <a:spLocks noGrp="1"/>
          </p:cNvSpPr>
          <p:nvPr/>
        </p:nvSpPr>
        <p:spPr>
          <a:xfrm>
            <a:off x="914400" y="4953000"/>
            <a:ext cx="9620250" cy="9525"/>
          </a:xfrm>
          <a:prstGeom prst="rect">
            <a:avLst/>
          </a:prstGeom>
          <a:solidFill>
            <a:srgbClr val="D0C8BC"/>
          </a:solidFill>
          <a:ln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39181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87E7D626-8A7E-4FB0-AC6C-942A4953E8E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345B4E9-5906-435F-B4E3-9ACC2F2BB9C2}"/>
              </a:ext>
            </a:extLst>
          </p:cNvPr>
          <p:cNvSpPr>
            <a:spLocks noGrp="1"/>
          </p:cNvSpPr>
          <p:nvPr/>
        </p:nvSpPr>
        <p:spPr>
          <a:xfrm>
            <a:off x="704850" y="62865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0C2742"/>
                </a:solidFill>
                <a:latin typeface="SimSun"/>
                <a:ea typeface="SimSun"/>
                <a:cs typeface="SimSun"/>
              </a:defRPr>
            </a:pPr>
            <a:r>
              <a:rPr sz="2550" b="1">
                <a:solidFill>
                  <a:srgbClr val="0C2742"/>
                </a:solidFill>
                <a:latin typeface="SimSun"/>
                <a:ea typeface="SimSun"/>
                <a:cs typeface="SimSun"/>
              </a:rPr>
              <a:t>交付物：源码、数据库、文档、测试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EA85FEE-196F-42AD-A66B-B796A9AC82FF}"/>
              </a:ext>
            </a:extLst>
          </p:cNvPr>
          <p:cNvSpPr>
            <a:spLocks noGrp="1"/>
          </p:cNvSpPr>
          <p:nvPr/>
        </p:nvSpPr>
        <p:spPr>
          <a:xfrm>
            <a:off x="685800" y="6210300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6B7D8C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B7D8C"/>
                </a:solidFill>
                <a:latin typeface="Consolas"/>
                <a:ea typeface="Consolas"/>
                <a:cs typeface="Consolas"/>
              </a:rPr>
              <a:t>AIRPORT FLIGHT SIMULATION / 10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441E5C1-E6AB-4ED9-8192-2315E32D8BB8}"/>
              </a:ext>
            </a:extLst>
          </p:cNvPr>
          <p:cNvSpPr>
            <a:spLocks noGrp="1"/>
          </p:cNvSpPr>
          <p:nvPr/>
        </p:nvSpPr>
        <p:spPr>
          <a:xfrm>
            <a:off x="9677400" y="6315075"/>
            <a:ext cx="1790700" cy="9525"/>
          </a:xfrm>
          <a:prstGeom prst="rect">
            <a:avLst/>
          </a:prstGeom>
          <a:solidFill>
            <a:srgbClr val="9CB4C4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4183E45-2936-46F7-8EE1-60919B6A0C10}"/>
              </a:ext>
            </a:extLst>
          </p:cNvPr>
          <p:cNvSpPr>
            <a:spLocks noGrp="1"/>
          </p:cNvSpPr>
          <p:nvPr/>
        </p:nvSpPr>
        <p:spPr>
          <a:xfrm>
            <a:off x="895350" y="2095500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2D6F9F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2D6F9F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4B230A-655D-4F4B-B27F-AD4646D50E7E}"/>
              </a:ext>
            </a:extLst>
          </p:cNvPr>
          <p:cNvSpPr>
            <a:spLocks noGrp="1"/>
          </p:cNvSpPr>
          <p:nvPr/>
        </p:nvSpPr>
        <p:spPr>
          <a:xfrm>
            <a:off x="1581150" y="20764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72033"/>
                </a:solidFill>
                <a:latin typeface="SimSun"/>
                <a:ea typeface="SimSun"/>
                <a:cs typeface="SimSun"/>
              </a:defRPr>
            </a:pPr>
            <a:r>
              <a:rPr sz="1725" b="1">
                <a:solidFill>
                  <a:srgbClr val="172033"/>
                </a:solidFill>
                <a:latin typeface="SimSun"/>
                <a:ea typeface="SimSun"/>
                <a:cs typeface="SimSun"/>
              </a:rPr>
              <a:t>源代码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0013D72-7A84-4A8F-9710-2DC2D3788ECA}"/>
              </a:ext>
            </a:extLst>
          </p:cNvPr>
          <p:cNvSpPr>
            <a:spLocks noGrp="1"/>
          </p:cNvSpPr>
          <p:nvPr/>
        </p:nvSpPr>
        <p:spPr>
          <a:xfrm>
            <a:off x="1581150" y="2476500"/>
            <a:ext cx="371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rPr>
              <a:t>src/main/java 与 templates/static，包含后端逻辑和页面展示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A0DACB9-46CB-4015-A891-8C69290D1EFB}"/>
              </a:ext>
            </a:extLst>
          </p:cNvPr>
          <p:cNvSpPr>
            <a:spLocks noGrp="1"/>
          </p:cNvSpPr>
          <p:nvPr/>
        </p:nvSpPr>
        <p:spPr>
          <a:xfrm>
            <a:off x="5810250" y="2095500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3B8D72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3B8D72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340EDD2-0AF0-4A3C-A08A-49C2E5A586D4}"/>
              </a:ext>
            </a:extLst>
          </p:cNvPr>
          <p:cNvSpPr>
            <a:spLocks noGrp="1"/>
          </p:cNvSpPr>
          <p:nvPr/>
        </p:nvSpPr>
        <p:spPr>
          <a:xfrm>
            <a:off x="6496050" y="20764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72033"/>
                </a:solidFill>
                <a:latin typeface="SimSun"/>
                <a:ea typeface="SimSun"/>
                <a:cs typeface="SimSun"/>
              </a:defRPr>
            </a:pPr>
            <a:r>
              <a:rPr sz="1725" b="1">
                <a:solidFill>
                  <a:srgbClr val="172033"/>
                </a:solidFill>
                <a:latin typeface="SimSun"/>
                <a:ea typeface="SimSun"/>
                <a:cs typeface="SimSun"/>
              </a:rPr>
              <a:t>数据库脚本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0838C0F-8AFB-42C7-8F52-18EF4F9F01A9}"/>
              </a:ext>
            </a:extLst>
          </p:cNvPr>
          <p:cNvSpPr>
            <a:spLocks noGrp="1"/>
          </p:cNvSpPr>
          <p:nvPr/>
        </p:nvSpPr>
        <p:spPr>
          <a:xfrm>
            <a:off x="6496050" y="2476500"/>
            <a:ext cx="371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rPr>
              <a:t>database/airport_simulation.sql，创建表并写入演示数据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041CEBD-761D-4887-AFB3-60791FCE6BC1}"/>
              </a:ext>
            </a:extLst>
          </p:cNvPr>
          <p:cNvSpPr>
            <a:spLocks noGrp="1"/>
          </p:cNvSpPr>
          <p:nvPr/>
        </p:nvSpPr>
        <p:spPr>
          <a:xfrm>
            <a:off x="895350" y="3162300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D69A27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D69A27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F2B984C-6BAF-4827-9417-BE1174FEA61B}"/>
              </a:ext>
            </a:extLst>
          </p:cNvPr>
          <p:cNvSpPr>
            <a:spLocks noGrp="1"/>
          </p:cNvSpPr>
          <p:nvPr/>
        </p:nvSpPr>
        <p:spPr>
          <a:xfrm>
            <a:off x="1581150" y="31432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72033"/>
                </a:solidFill>
                <a:latin typeface="SimSun"/>
                <a:ea typeface="SimSun"/>
                <a:cs typeface="SimSun"/>
              </a:defRPr>
            </a:pPr>
            <a:r>
              <a:rPr sz="1725" b="1">
                <a:solidFill>
                  <a:srgbClr val="172033"/>
                </a:solidFill>
                <a:latin typeface="SimSun"/>
                <a:ea typeface="SimSun"/>
                <a:cs typeface="SimSun"/>
              </a:rPr>
              <a:t>说明文档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84820D8-24ED-494F-ADFF-BCF5A50F6D72}"/>
              </a:ext>
            </a:extLst>
          </p:cNvPr>
          <p:cNvSpPr>
            <a:spLocks noGrp="1"/>
          </p:cNvSpPr>
          <p:nvPr/>
        </p:nvSpPr>
        <p:spPr>
          <a:xfrm>
            <a:off x="1581150" y="3543300"/>
            <a:ext cx="371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rPr>
              <a:t>README、需求分析、概要设计、测试设计与结果报告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2194E0F-218B-4A77-A6E3-0225C06E8379}"/>
              </a:ext>
            </a:extLst>
          </p:cNvPr>
          <p:cNvSpPr>
            <a:spLocks noGrp="1"/>
          </p:cNvSpPr>
          <p:nvPr/>
        </p:nvSpPr>
        <p:spPr>
          <a:xfrm>
            <a:off x="5810250" y="3162300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9B5F37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9B5F37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40552F3-5157-4DBE-95F3-AEF96BA02777}"/>
              </a:ext>
            </a:extLst>
          </p:cNvPr>
          <p:cNvSpPr>
            <a:spLocks noGrp="1"/>
          </p:cNvSpPr>
          <p:nvPr/>
        </p:nvSpPr>
        <p:spPr>
          <a:xfrm>
            <a:off x="6496050" y="31432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72033"/>
                </a:solidFill>
                <a:latin typeface="SimSun"/>
                <a:ea typeface="SimSun"/>
                <a:cs typeface="SimSun"/>
              </a:defRPr>
            </a:pPr>
            <a:r>
              <a:rPr sz="1725" b="1">
                <a:solidFill>
                  <a:srgbClr val="172033"/>
                </a:solidFill>
                <a:latin typeface="SimSun"/>
                <a:ea typeface="SimSun"/>
                <a:cs typeface="SimSun"/>
              </a:rPr>
              <a:t>测试证据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DFD699E-AF7D-4F94-BE54-6AA79528481E}"/>
              </a:ext>
            </a:extLst>
          </p:cNvPr>
          <p:cNvSpPr>
            <a:spLocks noGrp="1"/>
          </p:cNvSpPr>
          <p:nvPr/>
        </p:nvSpPr>
        <p:spPr>
          <a:xfrm>
            <a:off x="6496050" y="3543300"/>
            <a:ext cx="371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rPr>
              <a:t>JUnit 自动化测试与 mvn test 构建结果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42CFD26-5BBA-45B8-87FB-1BF26F4685DC}"/>
              </a:ext>
            </a:extLst>
          </p:cNvPr>
          <p:cNvSpPr>
            <a:spLocks noGrp="1"/>
          </p:cNvSpPr>
          <p:nvPr/>
        </p:nvSpPr>
        <p:spPr>
          <a:xfrm>
            <a:off x="895350" y="4229100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B95045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B95045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A6258B3-3662-476B-B51C-250C2FAC7880}"/>
              </a:ext>
            </a:extLst>
          </p:cNvPr>
          <p:cNvSpPr>
            <a:spLocks noGrp="1"/>
          </p:cNvSpPr>
          <p:nvPr/>
        </p:nvSpPr>
        <p:spPr>
          <a:xfrm>
            <a:off x="1581150" y="42100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72033"/>
                </a:solidFill>
                <a:latin typeface="SimSun"/>
                <a:ea typeface="SimSun"/>
                <a:cs typeface="SimSun"/>
              </a:defRPr>
            </a:pPr>
            <a:r>
              <a:rPr sz="1725" b="1">
                <a:solidFill>
                  <a:srgbClr val="172033"/>
                </a:solidFill>
                <a:latin typeface="SimSun"/>
                <a:ea typeface="SimSun"/>
                <a:cs typeface="SimSun"/>
              </a:rPr>
              <a:t>启动脚本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5AD03D4-21C3-425B-AC74-F8E6210F4EB6}"/>
              </a:ext>
            </a:extLst>
          </p:cNvPr>
          <p:cNvSpPr>
            <a:spLocks noGrp="1"/>
          </p:cNvSpPr>
          <p:nvPr/>
        </p:nvSpPr>
        <p:spPr>
          <a:xfrm>
            <a:off x="1581150" y="4610100"/>
            <a:ext cx="371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rPr>
              <a:t>start.bat / start.command / start-anywhere.ps1 / Dockerfile</a:t>
            </a:r>
          </a:p>
        </p:txBody>
      </p:sp>
    </p:spTree>
    <p:extLst>
      <p:ext uri="{BB962C8B-B14F-4D97-AF65-F5344CB8AC3E}">
        <p14:creationId xmlns:p14="http://schemas.microsoft.com/office/powerpoint/2010/main" val="1315761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5214AB2A-626D-44F7-84C7-92D3FCAF18A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2B34593-E4C1-4D2F-AC1B-7953F1F53CCA}"/>
              </a:ext>
            </a:extLst>
          </p:cNvPr>
          <p:cNvSpPr>
            <a:spLocks noGrp="1"/>
          </p:cNvSpPr>
          <p:nvPr/>
        </p:nvSpPr>
        <p:spPr>
          <a:xfrm>
            <a:off x="704850" y="62865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0C2742"/>
                </a:solidFill>
                <a:latin typeface="SimSun"/>
                <a:ea typeface="SimSun"/>
                <a:cs typeface="SimSun"/>
              </a:defRPr>
            </a:pPr>
            <a:r>
              <a:rPr sz="2550" b="1">
                <a:solidFill>
                  <a:srgbClr val="0C2742"/>
                </a:solidFill>
                <a:latin typeface="SimSun"/>
                <a:ea typeface="SimSun"/>
                <a:cs typeface="SimSun"/>
              </a:rPr>
              <a:t>总结：完整性优先，扩展性保留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0F9BE12-2CF2-46DF-BA0D-E5D9E43F8AB1}"/>
              </a:ext>
            </a:extLst>
          </p:cNvPr>
          <p:cNvSpPr>
            <a:spLocks noGrp="1"/>
          </p:cNvSpPr>
          <p:nvPr/>
        </p:nvSpPr>
        <p:spPr>
          <a:xfrm>
            <a:off x="685800" y="6210300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6B7D8C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B7D8C"/>
                </a:solidFill>
                <a:latin typeface="Consolas"/>
                <a:ea typeface="Consolas"/>
                <a:cs typeface="Consolas"/>
              </a:rPr>
              <a:t>AIRPORT FLIGHT SIMULATION / 11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CDFA5C5-ED98-4F81-8784-C5A692234D4F}"/>
              </a:ext>
            </a:extLst>
          </p:cNvPr>
          <p:cNvSpPr>
            <a:spLocks noGrp="1"/>
          </p:cNvSpPr>
          <p:nvPr/>
        </p:nvSpPr>
        <p:spPr>
          <a:xfrm>
            <a:off x="9677400" y="6315075"/>
            <a:ext cx="1790700" cy="9525"/>
          </a:xfrm>
          <a:prstGeom prst="rect">
            <a:avLst/>
          </a:prstGeom>
          <a:solidFill>
            <a:srgbClr val="9CB4C4"/>
          </a:solidFill>
          <a:ln w="0">
            <a:noFill/>
            <a:prstDash val="solid"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8237D8CD-F693-46C4-AF98-52CCB0510590}"/>
              </a:ext>
            </a:extLst>
          </p:cNvPr>
          <p:cNvSpPr>
            <a:spLocks noGrp="1"/>
          </p:cNvSpPr>
          <p:nvPr/>
        </p:nvSpPr>
        <p:spPr>
          <a:xfrm>
            <a:off x="876300" y="2076450"/>
            <a:ext cx="4381500" cy="2667000"/>
          </a:xfrm>
          <a:prstGeom prst="roundRect">
            <a:avLst>
              <a:gd name="adj" fmla="val 4286"/>
            </a:avLst>
          </a:prstGeom>
          <a:solidFill>
            <a:srgbClr val="FFFDF7"/>
          </a:solidFill>
          <a:ln w="9525">
            <a:solidFill>
              <a:srgbClr val="E4DCCC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CD02C0B-7ACA-4205-B3B6-800BB00E51FE}"/>
              </a:ext>
            </a:extLst>
          </p:cNvPr>
          <p:cNvSpPr>
            <a:spLocks noGrp="1"/>
          </p:cNvSpPr>
          <p:nvPr/>
        </p:nvSpPr>
        <p:spPr>
          <a:xfrm>
            <a:off x="1181100" y="2381250"/>
            <a:ext cx="1333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3B8D72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3B8D72"/>
                </a:solidFill>
                <a:latin typeface="SimSun"/>
                <a:ea typeface="SimSun"/>
                <a:cs typeface="SimSun"/>
              </a:rPr>
              <a:t>已完成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C3E91FA-005D-4D85-9A78-66A7DAC6C439}"/>
              </a:ext>
            </a:extLst>
          </p:cNvPr>
          <p:cNvSpPr>
            <a:spLocks noGrp="1"/>
          </p:cNvSpPr>
          <p:nvPr/>
        </p:nvSpPr>
        <p:spPr>
          <a:xfrm>
            <a:off x="1181100" y="2952750"/>
            <a:ext cx="3429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rPr>
              <a:t>可运行的 Spring Boot Web 系统</a:t>
            </a:r>
          </a:p>
          <a:p>
            <a:pPr algn="l">
              <a:defRPr sz="142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rPr>
              <a:t>可持久化的机场资源数据模型</a:t>
            </a:r>
          </a:p>
          <a:p>
            <a:pPr algn="l">
              <a:defRPr sz="142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rPr>
              <a:t>可推进的离散时间仿真流程</a:t>
            </a:r>
          </a:p>
          <a:p>
            <a:pPr algn="l">
              <a:defRPr sz="142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rPr>
              <a:t>可追踪的事件日志和统计指标</a:t>
            </a:r>
          </a:p>
          <a:p>
            <a:pPr algn="l">
              <a:defRPr sz="142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rPr>
              <a:t>可复现的自动化测试结果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CE6416F-D8E1-4674-AE55-2397C4417270}"/>
              </a:ext>
            </a:extLst>
          </p:cNvPr>
          <p:cNvSpPr>
            <a:spLocks noGrp="1"/>
          </p:cNvSpPr>
          <p:nvPr/>
        </p:nvSpPr>
        <p:spPr>
          <a:xfrm>
            <a:off x="6553200" y="2076450"/>
            <a:ext cx="4000500" cy="2667000"/>
          </a:xfrm>
          <a:prstGeom prst="roundRect">
            <a:avLst>
              <a:gd name="adj" fmla="val 4286"/>
            </a:avLst>
          </a:prstGeom>
          <a:solidFill>
            <a:srgbClr val="FFFDF7"/>
          </a:solidFill>
          <a:ln w="9525">
            <a:solidFill>
              <a:srgbClr val="E4DCCC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556D6AD-6D0E-4740-BD65-FD179C92BFCD}"/>
              </a:ext>
            </a:extLst>
          </p:cNvPr>
          <p:cNvSpPr>
            <a:spLocks noGrp="1"/>
          </p:cNvSpPr>
          <p:nvPr/>
        </p:nvSpPr>
        <p:spPr>
          <a:xfrm>
            <a:off x="6858000" y="2381250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2D6F9F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2D6F9F"/>
                </a:solidFill>
                <a:latin typeface="SimSun"/>
                <a:ea typeface="SimSun"/>
                <a:cs typeface="SimSun"/>
              </a:rPr>
              <a:t>后续方向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4EEC927-983E-4C32-AFFE-8D9E709BAAAF}"/>
              </a:ext>
            </a:extLst>
          </p:cNvPr>
          <p:cNvSpPr>
            <a:spLocks noGrp="1"/>
          </p:cNvSpPr>
          <p:nvPr/>
        </p:nvSpPr>
        <p:spPr>
          <a:xfrm>
            <a:off x="6858000" y="2952750"/>
            <a:ext cx="3048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rPr>
              <a:t>加入多策略调度对比</a:t>
            </a:r>
          </a:p>
          <a:p>
            <a:pPr algn="l">
              <a:defRPr sz="142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rPr>
              <a:t>引入天气与突发事件影响</a:t>
            </a:r>
          </a:p>
          <a:p>
            <a:pPr algn="l">
              <a:defRPr sz="142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rPr>
              <a:t>用 WebSocket 推送实时事件</a:t>
            </a:r>
          </a:p>
          <a:p>
            <a:pPr algn="l">
              <a:defRPr sz="142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rPr>
              <a:t>补充更细粒度权限与操作审计</a:t>
            </a:r>
          </a:p>
          <a:p>
            <a:pPr algn="l">
              <a:defRPr sz="142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879"/>
                </a:solidFill>
                <a:latin typeface="Microsoft YaHei"/>
                <a:ea typeface="Microsoft YaHei"/>
                <a:cs typeface="Microsoft YaHei"/>
              </a:rPr>
              <a:t>将统计图表做成可导出的报告</a:t>
            </a:r>
          </a:p>
        </p:txBody>
      </p:sp>
    </p:spTree>
    <p:extLst>
      <p:ext uri="{BB962C8B-B14F-4D97-AF65-F5344CB8AC3E}">
        <p14:creationId xmlns:p14="http://schemas.microsoft.com/office/powerpoint/2010/main" val="43959049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467</Words>
  <Application>Microsoft Office PowerPoint</Application>
  <DocSecurity>0</DocSecurity>
  <PresentationFormat>宽屏</PresentationFormat>
  <Paragraphs>165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SimSun</vt:lpstr>
      <vt:lpstr>Microsoft YaHei</vt:lpstr>
      <vt:lpstr>Calibri</vt:lpstr>
      <vt:lpstr>Consolas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俊威 王</cp:lastModifiedBy>
  <cp:revision>2</cp:revision>
  <dcterms:created xsi:type="dcterms:W3CDTF">2026-06-21T11:18:10Z</dcterms:created>
  <dcterms:modified xsi:type="dcterms:W3CDTF">2026-06-21T12:04:15Z</dcterms:modified>
</cp:coreProperties>
</file>